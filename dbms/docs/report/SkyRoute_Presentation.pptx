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12192000"/>
  <p:embeddedFontLst>
    <p:embeddedFont>
      <p:font typeface="Consolas" panose="020B0609020204030204" pitchFamily="49" charset="0"/>
      <p:regular r:id="rId9"/>
      <p:bold r:id="rId10"/>
      <p:italic r:id="rId11"/>
      <p:boldItalic r:id="rId12"/>
    </p:embeddedFont>
    <p:embeddedFont>
      <p:font typeface="Segoe UI" panose="020B0502040204020203" pitchFamily="34" charset="0"/>
      <p:regular r:id="rId13"/>
      <p:bold r:id="rId14"/>
      <p:italic r:id="rId15"/>
      <p:boldItalic r:id="rId16"/>
    </p:embeddedFont>
    <p:embeddedFont>
      <p:font typeface="Segoe UI Black" panose="020B0A02040204020203" pitchFamily="34" charset="0"/>
      <p:bold r:id="rId17"/>
      <p:boldItalic r:id="rId18"/>
    </p:embeddedFont>
    <p:embeddedFont>
      <p:font typeface="Segoe UI Semibold" panose="020B0702040204020203" pitchFamily="34" charset="0"/>
      <p:bold r:id="rId19"/>
      <p:boldItalic r:id="rId20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font" Target="fonts/font5.fntdata"/><Relationship Id="rId18" Type="http://schemas.openxmlformats.org/officeDocument/2006/relationships/font" Target="fonts/font10.fntdata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font" Target="fonts/font4.fntdata"/><Relationship Id="rId17" Type="http://schemas.openxmlformats.org/officeDocument/2006/relationships/font" Target="fonts/font9.fntdata"/><Relationship Id="rId2" Type="http://schemas.openxmlformats.org/officeDocument/2006/relationships/slide" Target="slides/slide1.xml"/><Relationship Id="rId16" Type="http://schemas.openxmlformats.org/officeDocument/2006/relationships/font" Target="fonts/font8.fntdata"/><Relationship Id="rId20" Type="http://schemas.openxmlformats.org/officeDocument/2006/relationships/font" Target="fonts/font12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3.fntdata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font" Target="fonts/font7.fntdata"/><Relationship Id="rId23" Type="http://schemas.openxmlformats.org/officeDocument/2006/relationships/theme" Target="theme/theme1.xml"/><Relationship Id="rId10" Type="http://schemas.openxmlformats.org/officeDocument/2006/relationships/font" Target="fonts/font2.fntdata"/><Relationship Id="rId19" Type="http://schemas.openxmlformats.org/officeDocument/2006/relationships/font" Target="fonts/font11.fntdata"/><Relationship Id="rId4" Type="http://schemas.openxmlformats.org/officeDocument/2006/relationships/slide" Target="slides/slide3.xml"/><Relationship Id="rId9" Type="http://schemas.openxmlformats.org/officeDocument/2006/relationships/font" Target="fonts/font1.fntdata"/><Relationship Id="rId14" Type="http://schemas.openxmlformats.org/officeDocument/2006/relationships/font" Target="fonts/font6.fntdata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6362710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morning. SkyRoute: one airline booking system, one MySQL 8.0 database behind every screen. Bookings, baggage, staff operations. I will show the front end live, book a real seat, and follow that click into the database.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path once, slowly: the form goes to a Flask route, the route calls db.py, db.py speaks to MySQL, the booking runs through the stored procedure sp_make_booking, and it all commits in one go.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Twelve tables: five masters, the timetable spine — Flights to Departures to Bookings — then the weak entity Baggage, and the one-to-one Payments and Check-ins. The right rail: the five views, one per page. Relations declared once as foreign keys.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Table creation is DDL, written once. The UNIQUE key, the CHECK, the cascade — all created with the table. Three guards: 1062 for the double sale, the trigger's 45000 for a full plane, and the fee view. Paste the same insert twice — the engine refuses the second.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CRUD, each letter on a real route. Create calls the procedure — seat plus payment in one commit. Read is views. Update is typed ENUM states. Delete cascades.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Close: THATS SKYROUTE — six boxes, all shown live. Thank you —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32688" y="877824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kern="0" spc="280" dirty="0">
                <a:solidFill>
                  <a:srgbClr val="9FE87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AIRLINE BOOKING · BAGGAGE · STAFF OPERATIONS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896112" y="1188720"/>
            <a:ext cx="1024128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7200" kern="0" spc="-60" dirty="0">
                <a:solidFill>
                  <a:srgbClr val="FFFFFF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ONE DATABASE</a:t>
            </a:r>
            <a:r>
              <a:rPr lang="en-US" sz="7200" kern="0" spc="-60" dirty="0">
                <a:solidFill>
                  <a:srgbClr val="9FE870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.</a:t>
            </a:r>
            <a:endParaRPr lang="en-US" sz="72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7200" kern="0" spc="-60" dirty="0">
                <a:solidFill>
                  <a:srgbClr val="FFFFFF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EVERY STATION</a:t>
            </a:r>
            <a:r>
              <a:rPr lang="en-US" sz="7200" kern="0" spc="-60" dirty="0">
                <a:solidFill>
                  <a:srgbClr val="9FE870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.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32688" y="3712464"/>
            <a:ext cx="7498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CFE3C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SkyRoute — one MySQL 8.0 database behind every page of a working airline portal. Search, seat maps, bags, payments, staff — every rule enforced by the engine itself.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9006840" y="1481328"/>
            <a:ext cx="1828800" cy="0"/>
          </a:xfrm>
          <a:prstGeom prst="line">
            <a:avLst/>
          </a:prstGeom>
          <a:noFill/>
          <a:ln w="15875">
            <a:solidFill>
              <a:srgbClr val="9FE870"/>
            </a:solidFill>
            <a:prstDash val="dash"/>
          </a:ln>
        </p:spPr>
      </p:sp>
      <p:sp>
        <p:nvSpPr>
          <p:cNvPr id="6" name="Shape 4"/>
          <p:cNvSpPr/>
          <p:nvPr/>
        </p:nvSpPr>
        <p:spPr>
          <a:xfrm>
            <a:off x="9710928" y="1280160"/>
            <a:ext cx="420624" cy="420624"/>
          </a:xfrm>
          <a:prstGeom prst="ellipse">
            <a:avLst/>
          </a:prstGeom>
          <a:solidFill>
            <a:srgbClr val="9FE870"/>
          </a:solidFill>
          <a:ln/>
        </p:spPr>
      </p:sp>
      <p:pic>
        <p:nvPicPr>
          <p:cNvPr id="7" name="Image 0" descr="C:\Users\dwada\AppData\Local\Temp\opencode\assets\icons\plane_fores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16084" y="1376172"/>
            <a:ext cx="210312" cy="210312"/>
          </a:xfrm>
          <a:prstGeom prst="rect">
            <a:avLst/>
          </a:prstGeom>
        </p:spPr>
      </p:pic>
      <p:pic>
        <p:nvPicPr>
          <p:cNvPr id="8" name="Image 1" descr="C:\Users\dwada\AppData\Local\Temp\opencode\assets\icons\planeTilt_lim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600000">
            <a:off x="10369296" y="932688"/>
            <a:ext cx="420624" cy="420624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932688" y="4736592"/>
            <a:ext cx="1364285" cy="457200"/>
          </a:xfrm>
          <a:prstGeom prst="roundRect">
            <a:avLst>
              <a:gd name="adj" fmla="val 50000"/>
            </a:avLst>
          </a:prstGeom>
          <a:solidFill>
            <a:srgbClr val="FFFFFF">
              <a:alpha val="7000"/>
            </a:srgbClr>
          </a:solidFill>
          <a:ln w="9525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932688" y="4736592"/>
            <a:ext cx="136428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9FE87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5 </a:t>
            </a:r>
            <a:r>
              <a:rPr lang="en-US" sz="1150" dirty="0">
                <a:solidFill>
                  <a:srgbClr val="CFE3C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airports</a:t>
            </a:r>
            <a:endParaRPr lang="en-US" sz="1150" dirty="0"/>
          </a:p>
        </p:txBody>
      </p:sp>
      <p:sp>
        <p:nvSpPr>
          <p:cNvPr id="11" name="Shape 7"/>
          <p:cNvSpPr/>
          <p:nvPr/>
        </p:nvSpPr>
        <p:spPr>
          <a:xfrm>
            <a:off x="2434133" y="4736592"/>
            <a:ext cx="1364285" cy="457200"/>
          </a:xfrm>
          <a:prstGeom prst="roundRect">
            <a:avLst>
              <a:gd name="adj" fmla="val 50000"/>
            </a:avLst>
          </a:prstGeom>
          <a:solidFill>
            <a:srgbClr val="FFFFFF">
              <a:alpha val="7000"/>
            </a:srgbClr>
          </a:solidFill>
          <a:ln w="9525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2434133" y="4736592"/>
            <a:ext cx="136428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9FE87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 </a:t>
            </a:r>
            <a:r>
              <a:rPr lang="en-US" sz="1150" dirty="0">
                <a:solidFill>
                  <a:srgbClr val="CFE3C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airlines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3935578" y="4736592"/>
            <a:ext cx="1283818" cy="457200"/>
          </a:xfrm>
          <a:prstGeom prst="roundRect">
            <a:avLst>
              <a:gd name="adj" fmla="val 50000"/>
            </a:avLst>
          </a:prstGeom>
          <a:solidFill>
            <a:srgbClr val="FFFFFF">
              <a:alpha val="7000"/>
            </a:srgbClr>
          </a:solidFill>
          <a:ln w="9525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3935578" y="4736592"/>
            <a:ext cx="12838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9FE87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16 </a:t>
            </a:r>
            <a:r>
              <a:rPr lang="en-US" sz="1150" dirty="0">
                <a:solidFill>
                  <a:srgbClr val="CFE3C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routes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5356555" y="4736592"/>
            <a:ext cx="1795882" cy="457200"/>
          </a:xfrm>
          <a:prstGeom prst="roundRect">
            <a:avLst>
              <a:gd name="adj" fmla="val 50000"/>
            </a:avLst>
          </a:prstGeom>
          <a:solidFill>
            <a:srgbClr val="FFFFFF">
              <a:alpha val="7000"/>
            </a:srgbClr>
          </a:solidFill>
          <a:ln w="9525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5356555" y="4736592"/>
            <a:ext cx="17958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9FE87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336 </a:t>
            </a:r>
            <a:r>
              <a:rPr lang="en-US" sz="1150" dirty="0">
                <a:solidFill>
                  <a:srgbClr val="CFE3C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departures</a:t>
            </a:r>
            <a:endParaRPr lang="en-US" sz="1150" dirty="0"/>
          </a:p>
        </p:txBody>
      </p:sp>
      <p:sp>
        <p:nvSpPr>
          <p:cNvPr id="17" name="Shape 13"/>
          <p:cNvSpPr/>
          <p:nvPr/>
        </p:nvSpPr>
        <p:spPr>
          <a:xfrm>
            <a:off x="7289597" y="4736592"/>
            <a:ext cx="1949501" cy="457200"/>
          </a:xfrm>
          <a:prstGeom prst="roundRect">
            <a:avLst>
              <a:gd name="adj" fmla="val 50000"/>
            </a:avLst>
          </a:prstGeom>
          <a:solidFill>
            <a:srgbClr val="FFFFFF">
              <a:alpha val="7000"/>
            </a:srgbClr>
          </a:solidFill>
          <a:ln w="9525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7289597" y="4736592"/>
            <a:ext cx="194950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9FE87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34,708 </a:t>
            </a:r>
            <a:r>
              <a:rPr lang="en-US" sz="1150" dirty="0">
                <a:solidFill>
                  <a:srgbClr val="CFE3C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bookings</a:t>
            </a:r>
            <a:endParaRPr lang="en-US" sz="1150" dirty="0"/>
          </a:p>
        </p:txBody>
      </p:sp>
      <p:sp>
        <p:nvSpPr>
          <p:cNvPr id="19" name="Shape 15"/>
          <p:cNvSpPr/>
          <p:nvPr/>
        </p:nvSpPr>
        <p:spPr>
          <a:xfrm>
            <a:off x="914400" y="5687568"/>
            <a:ext cx="1042416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</p:spPr>
      </p:sp>
      <p:pic>
        <p:nvPicPr>
          <p:cNvPr id="20" name="Image 2" descr="C:\Users\dwada\AppData\Local\Temp\opencode\assets\icfai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5840" y="5815584"/>
            <a:ext cx="859536" cy="402336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2139696" y="5614416"/>
            <a:ext cx="6035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4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D. Sivasai Bhaskar Sarma</a:t>
            </a:r>
            <a:endParaRPr lang="en-US" sz="1250" dirty="0"/>
          </a:p>
          <a:p>
            <a:pPr marL="0" indent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CFE3C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25STUCHH010868 · Section D · CS/AI/AIM/DS202</a:t>
            </a:r>
            <a:endParaRPr lang="en-US" sz="1250" dirty="0"/>
          </a:p>
          <a:p>
            <a:pPr marL="0" indent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CFE3C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Faculty: Dr. Meena Kumari Parigi · Semester I · A.Y. 2026–27</a:t>
            </a:r>
            <a:endParaRPr lang="en-US" sz="1250" dirty="0"/>
          </a:p>
        </p:txBody>
      </p:sp>
      <p:sp>
        <p:nvSpPr>
          <p:cNvPr id="22" name="Text 17"/>
          <p:cNvSpPr/>
          <p:nvPr/>
        </p:nvSpPr>
        <p:spPr>
          <a:xfrm>
            <a:off x="8229600" y="6355080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i="1" dirty="0">
                <a:solidFill>
                  <a:srgbClr val="8FAE9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click to advance · stop anywhere</a:t>
            </a:r>
            <a:endParaRPr lang="en-US" sz="95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52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nodeType="withEffect">
                                  <p:stCondLst>
                                    <p:cond delay="85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10" grpId="0" animBg="1"/>
      <p:bldP spid="12" grpId="0" animBg="1"/>
      <p:bldP spid="14" grpId="0" animBg="1"/>
      <p:bldP spid="16" grpId="0" animBg="1"/>
      <p:bldP spid="18" grpId="0" animBg="1"/>
      <p:bldP spid="21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8680" y="5303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kern="0" spc="260" dirty="0">
                <a:solidFill>
                  <a:srgbClr val="4C7A1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STEP 01 — HOW THE WEBSITE AND THE DATABASE ARE CONNECTED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868680" y="841248"/>
            <a:ext cx="9692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300" kern="0" spc="-30" dirty="0">
                <a:solidFill>
                  <a:srgbClr val="163300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BROWSER → FLASK → MYSQL</a:t>
            </a:r>
            <a:r>
              <a:rPr lang="en-US" sz="3300" kern="0" spc="-30" dirty="0">
                <a:solidFill>
                  <a:srgbClr val="4C7A1E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.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868680" y="1517904"/>
            <a:ext cx="9966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A6C6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pages are HTML + CSS, rendered by Flask templates. The whole connection is one file: db.py.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868680" y="2139696"/>
            <a:ext cx="3319272" cy="265176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DFE4DC"/>
            </a:solidFill>
            <a:prstDash val="solid"/>
          </a:ln>
          <a:effectLst>
            <a:outerShdw blurRad="203200" dist="50800" dir="5400000" algn="bl" rotWithShape="0">
              <a:srgbClr val="163300">
                <a:alpha val="10000"/>
              </a:srgbClr>
            </a:outerShdw>
          </a:effectLst>
        </p:spPr>
      </p:sp>
      <p:pic>
        <p:nvPicPr>
          <p:cNvPr id="6" name="Image 0" descr="C:\Users\dwada\AppData\Local\Temp\opencode\assets\icons\dashboard_fores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6424" y="2395728"/>
            <a:ext cx="329184" cy="32918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06424" y="2889504"/>
            <a:ext cx="2862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kern="0" spc="20" dirty="0">
                <a:solidFill>
                  <a:srgbClr val="163300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BROWSER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1106424" y="3291840"/>
            <a:ext cx="28620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4C7A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pages</a:t>
            </a:r>
            <a:endParaRPr lang="en-US" sz="880" dirty="0"/>
          </a:p>
        </p:txBody>
      </p:sp>
      <p:sp>
        <p:nvSpPr>
          <p:cNvPr id="9" name="Text 6"/>
          <p:cNvSpPr/>
          <p:nvPr/>
        </p:nvSpPr>
        <p:spPr>
          <a:xfrm>
            <a:off x="1106424" y="3602736"/>
            <a:ext cx="2843784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A6C6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HTML + CSS live in templates/ and static/ — Jinja prints the rows a view returns.</a:t>
            </a:r>
            <a:endParaRPr lang="en-US" sz="1050" dirty="0"/>
          </a:p>
        </p:txBody>
      </p:sp>
      <p:pic>
        <p:nvPicPr>
          <p:cNvPr id="10" name="Image 1" descr="C:\Users\dwada\AppData\Local\Temp\opencode\assets\icons\arrowsRight_clov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92524" y="3346704"/>
            <a:ext cx="237744" cy="237744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34840" y="2139696"/>
            <a:ext cx="3319272" cy="265176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DFE4DC"/>
            </a:solidFill>
            <a:prstDash val="solid"/>
          </a:ln>
          <a:effectLst>
            <a:outerShdw blurRad="203200" dist="50800" dir="5400000" algn="bl" rotWithShape="0">
              <a:srgbClr val="163300">
                <a:alpha val="10000"/>
              </a:srgbClr>
            </a:outerShdw>
          </a:effectLst>
        </p:spPr>
      </p:sp>
      <p:pic>
        <p:nvPicPr>
          <p:cNvPr id="12" name="Image 2" descr="C:\Users\dwada\AppData\Local\Temp\opencode\assets\icons\flask_fores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72584" y="2395728"/>
            <a:ext cx="329184" cy="329184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4672584" y="2889504"/>
            <a:ext cx="2862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kern="0" spc="20" dirty="0">
                <a:solidFill>
                  <a:srgbClr val="163300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FLASK</a:t>
            </a:r>
            <a:endParaRPr lang="en-US" sz="1800" dirty="0"/>
          </a:p>
        </p:txBody>
      </p:sp>
      <p:sp>
        <p:nvSpPr>
          <p:cNvPr id="14" name="Text 9"/>
          <p:cNvSpPr/>
          <p:nvPr/>
        </p:nvSpPr>
        <p:spPr>
          <a:xfrm>
            <a:off x="4672584" y="3291840"/>
            <a:ext cx="28620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4C7A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python/flask_app</a:t>
            </a:r>
            <a:endParaRPr lang="en-US" sz="880" dirty="0"/>
          </a:p>
        </p:txBody>
      </p:sp>
      <p:sp>
        <p:nvSpPr>
          <p:cNvPr id="15" name="Text 10"/>
          <p:cNvSpPr/>
          <p:nvPr/>
        </p:nvSpPr>
        <p:spPr>
          <a:xfrm>
            <a:off x="4672584" y="3602736"/>
            <a:ext cx="2843784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A6C6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 routes in app.py. db.py opens one connection per request, and closes it.</a:t>
            </a:r>
            <a:endParaRPr lang="en-US" sz="1050" dirty="0"/>
          </a:p>
        </p:txBody>
      </p:sp>
      <p:pic>
        <p:nvPicPr>
          <p:cNvPr id="16" name="Image 3" descr="C:\Users\dwada\AppData\Local\Temp\opencode\assets\icons\arrowsRight_clov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58684" y="3346704"/>
            <a:ext cx="237744" cy="237744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001000" y="2139696"/>
            <a:ext cx="3319272" cy="265176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DFE4DC"/>
            </a:solidFill>
            <a:prstDash val="solid"/>
          </a:ln>
          <a:effectLst>
            <a:outerShdw blurRad="203200" dist="50800" dir="5400000" algn="bl" rotWithShape="0">
              <a:srgbClr val="163300">
                <a:alpha val="10000"/>
              </a:srgbClr>
            </a:outerShdw>
          </a:effectLst>
        </p:spPr>
      </p:sp>
      <p:pic>
        <p:nvPicPr>
          <p:cNvPr id="18" name="Image 4" descr="C:\Users\dwada\AppData\Local\Temp\opencode\assets\icons\database_fores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38744" y="2395728"/>
            <a:ext cx="329184" cy="329184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8238744" y="2889504"/>
            <a:ext cx="2862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kern="0" spc="20" dirty="0">
                <a:solidFill>
                  <a:srgbClr val="163300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MYSQL 8.0</a:t>
            </a:r>
            <a:endParaRPr lang="en-US" sz="1800" dirty="0"/>
          </a:p>
        </p:txBody>
      </p:sp>
      <p:sp>
        <p:nvSpPr>
          <p:cNvPr id="20" name="Text 13"/>
          <p:cNvSpPr/>
          <p:nvPr/>
        </p:nvSpPr>
        <p:spPr>
          <a:xfrm>
            <a:off x="8238744" y="3291840"/>
            <a:ext cx="28620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4C7A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skyroute_app · 127.0.0.1:3306</a:t>
            </a:r>
            <a:endParaRPr lang="en-US" sz="880" dirty="0"/>
          </a:p>
        </p:txBody>
      </p:sp>
      <p:sp>
        <p:nvSpPr>
          <p:cNvPr id="21" name="Text 14"/>
          <p:cNvSpPr/>
          <p:nvPr/>
        </p:nvSpPr>
        <p:spPr>
          <a:xfrm>
            <a:off x="8238744" y="3602736"/>
            <a:ext cx="2843784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A6C6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tables · 5 views · 1 procedure — the joins and the guards live here.</a:t>
            </a:r>
            <a:endParaRPr lang="en-US" sz="1050" dirty="0"/>
          </a:p>
        </p:txBody>
      </p:sp>
      <p:sp>
        <p:nvSpPr>
          <p:cNvPr id="22" name="Shape 15"/>
          <p:cNvSpPr/>
          <p:nvPr/>
        </p:nvSpPr>
        <p:spPr>
          <a:xfrm>
            <a:off x="868680" y="5230368"/>
            <a:ext cx="10451592" cy="438912"/>
          </a:xfrm>
          <a:prstGeom prst="roundRect">
            <a:avLst>
              <a:gd name="adj" fmla="val 50000"/>
            </a:avLst>
          </a:prstGeom>
          <a:solidFill>
            <a:srgbClr val="9FE870"/>
          </a:solidFill>
          <a:ln/>
        </p:spPr>
      </p:sp>
      <p:sp>
        <p:nvSpPr>
          <p:cNvPr id="23" name="Text 16"/>
          <p:cNvSpPr/>
          <p:nvPr/>
        </p:nvSpPr>
        <p:spPr>
          <a:xfrm>
            <a:off x="868680" y="5230368"/>
            <a:ext cx="10451592" cy="438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6330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One booking  =  the form → a Flask route → db.py → CALL sp_make_booking → one commit</a:t>
            </a:r>
            <a:endParaRPr lang="en-US" sz="1150" dirty="0"/>
          </a:p>
        </p:txBody>
      </p:sp>
      <p:sp>
        <p:nvSpPr>
          <p:cNvPr id="24" name="Text 17"/>
          <p:cNvSpPr/>
          <p:nvPr/>
        </p:nvSpPr>
        <p:spPr>
          <a:xfrm>
            <a:off x="868680" y="6464808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9AA3A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SKYROUTE — DBMS mini project · MySQL 8.0</a:t>
            </a:r>
            <a:endParaRPr lang="en-US" sz="850" dirty="0"/>
          </a:p>
        </p:txBody>
      </p:sp>
      <p:sp>
        <p:nvSpPr>
          <p:cNvPr id="25" name="Text 18"/>
          <p:cNvSpPr/>
          <p:nvPr/>
        </p:nvSpPr>
        <p:spPr>
          <a:xfrm>
            <a:off x="10225735" y="6464808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4C7A1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02 / 6</a:t>
            </a:r>
            <a:endParaRPr lang="en-US" sz="85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20">
        <p:push dir="u"/>
      </p:transition>
    </mc:Choice>
    <mc:Fallback>
      <p:transition spd="med"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42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42" presetClass="entr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7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42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7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8" dur="5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85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7" grpId="0" animBg="1"/>
      <p:bldP spid="8" grpId="0" animBg="1"/>
      <p:bldP spid="9" grpId="0" animBg="1"/>
      <p:bldP spid="13" grpId="0" animBg="1"/>
      <p:bldP spid="14" grpId="0" animBg="1"/>
      <p:bldP spid="15" grpId="0" animBg="1"/>
      <p:bldP spid="19" grpId="0" animBg="1"/>
      <p:bldP spid="20" grpId="0" animBg="1"/>
      <p:bldP spid="21" grpId="0" animBg="1"/>
      <p:bldP spid="23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8680" y="5303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kern="0" spc="260" dirty="0">
                <a:solidFill>
                  <a:srgbClr val="4C7A1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STEP 02 — ALL THE TABLES, AND HOW THEY HOLD HANDS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868680" y="841248"/>
            <a:ext cx="9692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kern="0" spc="-30" dirty="0">
                <a:solidFill>
                  <a:srgbClr val="163300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TIMETABLE MEETS CALENDAR</a:t>
            </a:r>
            <a:r>
              <a:rPr lang="en-US" sz="3100" kern="0" spc="-30" dirty="0">
                <a:solidFill>
                  <a:srgbClr val="4C7A1E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.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8214055" y="512064"/>
            <a:ext cx="3108960" cy="365760"/>
          </a:xfrm>
          <a:prstGeom prst="roundRect">
            <a:avLst>
              <a:gd name="adj" fmla="val 50000"/>
            </a:avLst>
          </a:prstGeom>
          <a:solidFill>
            <a:srgbClr val="E2F6D5"/>
          </a:solidFill>
          <a:ln/>
        </p:spPr>
      </p:sp>
      <p:sp>
        <p:nvSpPr>
          <p:cNvPr id="5" name="Text 3"/>
          <p:cNvSpPr/>
          <p:nvPr/>
        </p:nvSpPr>
        <p:spPr>
          <a:xfrm>
            <a:off x="8214055" y="512064"/>
            <a:ext cx="3108960" cy="3657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6330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12 tables · 5 views · 14 foreign keys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868680" y="1463040"/>
            <a:ext cx="8778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A6C6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schedule row is the template; every date becomes its own departure — masters are referenced, never copied.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68680" y="1901952"/>
            <a:ext cx="2148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kern="0" spc="160" dirty="0">
                <a:solidFill>
                  <a:srgbClr val="8686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MASTERS — THE ROOTS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868680" y="2176272"/>
            <a:ext cx="214884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FE4D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87552" y="2176272"/>
            <a:ext cx="1947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16330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AIRPORTS</a:t>
            </a:r>
            <a:endParaRPr lang="en-US" sz="120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850" dirty="0">
                <a:solidFill>
                  <a:srgbClr val="8686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root · 5 rows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68680" y="2724912"/>
            <a:ext cx="214884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FE4D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87552" y="2724912"/>
            <a:ext cx="1947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16330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AIRLINES</a:t>
            </a:r>
            <a:endParaRPr lang="en-US" sz="120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850" dirty="0">
                <a:solidFill>
                  <a:srgbClr val="8686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 · fleet hold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68680" y="3273552"/>
            <a:ext cx="214884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FE4D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87552" y="3273552"/>
            <a:ext cx="1947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16330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AIRCRAFT</a:t>
            </a:r>
            <a:endParaRPr lang="en-US" sz="120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850" dirty="0">
                <a:solidFill>
                  <a:srgbClr val="8686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capacity lives here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68680" y="3822192"/>
            <a:ext cx="214884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FE4D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87552" y="3822192"/>
            <a:ext cx="1947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16330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TERMINALS · GATES</a:t>
            </a:r>
            <a:endParaRPr lang="en-US" sz="120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850" dirty="0">
                <a:solidFill>
                  <a:srgbClr val="8686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gate is one row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68680" y="4370832"/>
            <a:ext cx="214884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FE4D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87552" y="4370832"/>
            <a:ext cx="1947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16330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PASSENGERS</a:t>
            </a:r>
            <a:endParaRPr lang="en-US" sz="120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850" dirty="0">
                <a:solidFill>
                  <a:srgbClr val="8686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people who fly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246120" y="2176272"/>
            <a:ext cx="1783080" cy="1481328"/>
          </a:xfrm>
          <a:prstGeom prst="roundRect">
            <a:avLst>
              <a:gd name="adj" fmla="val 8642"/>
            </a:avLst>
          </a:prstGeom>
          <a:solidFill>
            <a:srgbClr val="FFFFFF"/>
          </a:solidFill>
          <a:ln w="11430">
            <a:solidFill>
              <a:srgbClr val="DFE4DC"/>
            </a:solidFill>
            <a:prstDash val="solid"/>
          </a:ln>
          <a:effectLst>
            <a:outerShdw blurRad="203200" dist="63500" dir="5400000" algn="bl" rotWithShape="0">
              <a:srgbClr val="1633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3374136" y="2295144"/>
            <a:ext cx="1527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kern="0" spc="20" dirty="0">
                <a:solidFill>
                  <a:srgbClr val="163300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FLIGHTS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3374136" y="2587752"/>
            <a:ext cx="1527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A6C6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timetable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374136" y="2871216"/>
            <a:ext cx="152704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800" dirty="0">
                <a:solidFill>
                  <a:srgbClr val="5F7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flight_number</a:t>
            </a:r>
            <a:endParaRPr lang="en-US" sz="8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800" dirty="0">
                <a:solidFill>
                  <a:srgbClr val="5F7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dep ≠ arr</a:t>
            </a:r>
            <a:endParaRPr lang="en-US" sz="8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800" dirty="0">
                <a:solidFill>
                  <a:srgbClr val="5F7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airline_id</a:t>
            </a:r>
            <a:endParaRPr lang="en-US" sz="800" dirty="0"/>
          </a:p>
        </p:txBody>
      </p:sp>
      <p:pic>
        <p:nvPicPr>
          <p:cNvPr id="22" name="Image 0" descr="C:\Users\dwada\AppData\Local\Temp\opencode\assets\icons\arrowsRight_clov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97780" y="2788920"/>
            <a:ext cx="256032" cy="256032"/>
          </a:xfrm>
          <a:prstGeom prst="rect">
            <a:avLst/>
          </a:prstGeom>
        </p:spPr>
      </p:pic>
      <p:sp>
        <p:nvSpPr>
          <p:cNvPr id="23" name="Text 20"/>
          <p:cNvSpPr/>
          <p:nvPr/>
        </p:nvSpPr>
        <p:spPr>
          <a:xfrm>
            <a:off x="4919472" y="2441448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8686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 — N</a:t>
            </a:r>
            <a:endParaRPr lang="en-US" sz="750" dirty="0"/>
          </a:p>
        </p:txBody>
      </p:sp>
      <p:sp>
        <p:nvSpPr>
          <p:cNvPr id="24" name="Shape 21"/>
          <p:cNvSpPr/>
          <p:nvPr/>
        </p:nvSpPr>
        <p:spPr>
          <a:xfrm>
            <a:off x="5440680" y="2176272"/>
            <a:ext cx="1783080" cy="1481328"/>
          </a:xfrm>
          <a:prstGeom prst="roundRect">
            <a:avLst>
              <a:gd name="adj" fmla="val 8642"/>
            </a:avLst>
          </a:prstGeom>
          <a:solidFill>
            <a:srgbClr val="FFFFFF"/>
          </a:solidFill>
          <a:ln w="11430">
            <a:solidFill>
              <a:srgbClr val="DFE4DC"/>
            </a:solidFill>
            <a:prstDash val="solid"/>
          </a:ln>
          <a:effectLst>
            <a:outerShdw blurRad="203200" dist="63500" dir="5400000" algn="bl" rotWithShape="0">
              <a:srgbClr val="163300">
                <a:alpha val="12000"/>
              </a:srgbClr>
            </a:outerShdw>
          </a:effectLst>
        </p:spPr>
      </p:sp>
      <p:sp>
        <p:nvSpPr>
          <p:cNvPr id="25" name="Text 22"/>
          <p:cNvSpPr/>
          <p:nvPr/>
        </p:nvSpPr>
        <p:spPr>
          <a:xfrm>
            <a:off x="5568696" y="2295144"/>
            <a:ext cx="1527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kern="0" spc="20" dirty="0">
                <a:solidFill>
                  <a:srgbClr val="163300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DEPARTURES</a:t>
            </a:r>
            <a:endParaRPr lang="en-US" sz="1350" dirty="0"/>
          </a:p>
        </p:txBody>
      </p:sp>
      <p:sp>
        <p:nvSpPr>
          <p:cNvPr id="26" name="Text 23"/>
          <p:cNvSpPr/>
          <p:nvPr/>
        </p:nvSpPr>
        <p:spPr>
          <a:xfrm>
            <a:off x="5568696" y="2587752"/>
            <a:ext cx="1527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A6C6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date on the calendar</a:t>
            </a:r>
            <a:endParaRPr lang="en-US" sz="900" dirty="0"/>
          </a:p>
        </p:txBody>
      </p:sp>
      <p:sp>
        <p:nvSpPr>
          <p:cNvPr id="27" name="Text 24"/>
          <p:cNvSpPr/>
          <p:nvPr/>
        </p:nvSpPr>
        <p:spPr>
          <a:xfrm>
            <a:off x="5568696" y="2871216"/>
            <a:ext cx="152704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800" dirty="0">
                <a:solidFill>
                  <a:srgbClr val="5F7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scheduled_departure</a:t>
            </a:r>
            <a:endParaRPr lang="en-US" sz="8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800" dirty="0">
                <a:solidFill>
                  <a:srgbClr val="5F7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aircraft_id</a:t>
            </a:r>
            <a:endParaRPr lang="en-US" sz="8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800" dirty="0">
                <a:solidFill>
                  <a:srgbClr val="5F7A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gate_id</a:t>
            </a:r>
            <a:endParaRPr lang="en-US" sz="800" dirty="0"/>
          </a:p>
        </p:txBody>
      </p:sp>
      <p:pic>
        <p:nvPicPr>
          <p:cNvPr id="28" name="Image 1" descr="C:\Users\dwada\AppData\Local\Temp\opencode\assets\icons\arrowsRight_clov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92340" y="2788920"/>
            <a:ext cx="256032" cy="256032"/>
          </a:xfrm>
          <a:prstGeom prst="rect">
            <a:avLst/>
          </a:prstGeom>
        </p:spPr>
      </p:pic>
      <p:sp>
        <p:nvSpPr>
          <p:cNvPr id="29" name="Text 25"/>
          <p:cNvSpPr/>
          <p:nvPr/>
        </p:nvSpPr>
        <p:spPr>
          <a:xfrm>
            <a:off x="7114032" y="2441448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8686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 — N</a:t>
            </a:r>
            <a:endParaRPr lang="en-US" sz="750" dirty="0"/>
          </a:p>
        </p:txBody>
      </p:sp>
      <p:sp>
        <p:nvSpPr>
          <p:cNvPr id="30" name="Shape 26"/>
          <p:cNvSpPr/>
          <p:nvPr/>
        </p:nvSpPr>
        <p:spPr>
          <a:xfrm>
            <a:off x="7635240" y="2176272"/>
            <a:ext cx="1783080" cy="1481328"/>
          </a:xfrm>
          <a:prstGeom prst="roundRect">
            <a:avLst>
              <a:gd name="adj" fmla="val 8642"/>
            </a:avLst>
          </a:prstGeom>
          <a:solidFill>
            <a:srgbClr val="E2F6D5"/>
          </a:solidFill>
          <a:ln w="11430">
            <a:solidFill>
              <a:srgbClr val="A9D98A"/>
            </a:solidFill>
            <a:prstDash val="solid"/>
          </a:ln>
          <a:effectLst>
            <a:outerShdw blurRad="203200" dist="63500" dir="5400000" algn="bl" rotWithShape="0">
              <a:srgbClr val="163300">
                <a:alpha val="12000"/>
              </a:srgbClr>
            </a:outerShdw>
          </a:effectLst>
        </p:spPr>
      </p:sp>
      <p:sp>
        <p:nvSpPr>
          <p:cNvPr id="31" name="Text 27"/>
          <p:cNvSpPr/>
          <p:nvPr/>
        </p:nvSpPr>
        <p:spPr>
          <a:xfrm>
            <a:off x="7763256" y="2295144"/>
            <a:ext cx="1527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kern="0" spc="20" dirty="0">
                <a:solidFill>
                  <a:srgbClr val="163300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BOOKINGS</a:t>
            </a:r>
            <a:endParaRPr lang="en-US" sz="1350" dirty="0"/>
          </a:p>
        </p:txBody>
      </p:sp>
      <p:sp>
        <p:nvSpPr>
          <p:cNvPr id="32" name="Text 28"/>
          <p:cNvSpPr/>
          <p:nvPr/>
        </p:nvSpPr>
        <p:spPr>
          <a:xfrm>
            <a:off x="7763256" y="2587752"/>
            <a:ext cx="1527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A6C6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seat · class · price</a:t>
            </a:r>
            <a:endParaRPr lang="en-US" sz="900" dirty="0"/>
          </a:p>
        </p:txBody>
      </p:sp>
      <p:sp>
        <p:nvSpPr>
          <p:cNvPr id="33" name="Text 29"/>
          <p:cNvSpPr/>
          <p:nvPr/>
        </p:nvSpPr>
        <p:spPr>
          <a:xfrm>
            <a:off x="7763256" y="2871216"/>
            <a:ext cx="152704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800" dirty="0">
                <a:solidFill>
                  <a:srgbClr val="054D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booking_id</a:t>
            </a:r>
            <a:endParaRPr lang="en-US" sz="8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800" dirty="0">
                <a:solidFill>
                  <a:srgbClr val="054D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seat_number</a:t>
            </a:r>
            <a:endParaRPr lang="en-US" sz="8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800" dirty="0">
                <a:solidFill>
                  <a:srgbClr val="054D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price</a:t>
            </a:r>
            <a:endParaRPr lang="en-US" sz="800" dirty="0"/>
          </a:p>
        </p:txBody>
      </p:sp>
      <p:sp>
        <p:nvSpPr>
          <p:cNvPr id="34" name="Text 30"/>
          <p:cNvSpPr/>
          <p:nvPr/>
        </p:nvSpPr>
        <p:spPr>
          <a:xfrm>
            <a:off x="3246120" y="376732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686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 — 1 hangs below:</a:t>
            </a:r>
            <a:endParaRPr lang="en-US" sz="800" dirty="0"/>
          </a:p>
        </p:txBody>
      </p:sp>
      <p:sp>
        <p:nvSpPr>
          <p:cNvPr id="35" name="Shape 31"/>
          <p:cNvSpPr/>
          <p:nvPr/>
        </p:nvSpPr>
        <p:spPr>
          <a:xfrm>
            <a:off x="3246120" y="4023360"/>
            <a:ext cx="1737360" cy="658368"/>
          </a:xfrm>
          <a:prstGeom prst="roundRect">
            <a:avLst>
              <a:gd name="adj" fmla="val 13889"/>
            </a:avLst>
          </a:prstGeom>
          <a:solidFill>
            <a:srgbClr val="EFF9E4"/>
          </a:solidFill>
          <a:ln w="19050">
            <a:solidFill>
              <a:srgbClr val="4C7A1E"/>
            </a:solidFill>
            <a:prstDash val="dash"/>
          </a:ln>
          <a:effectLst>
            <a:outerShdw blurRad="127000" dist="38100" dir="5400000" algn="bl" rotWithShape="0">
              <a:srgbClr val="163300">
                <a:alpha val="8000"/>
              </a:srgbClr>
            </a:outerShdw>
          </a:effectLst>
        </p:spPr>
      </p:sp>
      <p:sp>
        <p:nvSpPr>
          <p:cNvPr id="36" name="Text 32"/>
          <p:cNvSpPr/>
          <p:nvPr/>
        </p:nvSpPr>
        <p:spPr>
          <a:xfrm>
            <a:off x="3364992" y="4023360"/>
            <a:ext cx="15361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16330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BAGGAGE</a:t>
            </a:r>
            <a:endParaRPr lang="en-US" sz="110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850" dirty="0">
                <a:solidFill>
                  <a:srgbClr val="8686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weak · (booking_id, seq)</a:t>
            </a:r>
            <a:endParaRPr lang="en-US" sz="1100" dirty="0"/>
          </a:p>
        </p:txBody>
      </p:sp>
      <p:sp>
        <p:nvSpPr>
          <p:cNvPr id="37" name="Shape 33"/>
          <p:cNvSpPr/>
          <p:nvPr/>
        </p:nvSpPr>
        <p:spPr>
          <a:xfrm>
            <a:off x="3246120" y="4791456"/>
            <a:ext cx="141732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9525">
            <a:solidFill>
              <a:srgbClr val="DFE4DC"/>
            </a:solidFill>
            <a:prstDash val="solid"/>
          </a:ln>
        </p:spPr>
      </p:sp>
      <p:sp>
        <p:nvSpPr>
          <p:cNvPr id="38" name="Text 34"/>
          <p:cNvSpPr/>
          <p:nvPr/>
        </p:nvSpPr>
        <p:spPr>
          <a:xfrm>
            <a:off x="3364992" y="4791456"/>
            <a:ext cx="12161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lnSpc>
                <a:spcPct val="102000"/>
              </a:lnSpc>
              <a:buNone/>
            </a:pPr>
            <a:r>
              <a:rPr lang="en-US" sz="1000" dirty="0">
                <a:solidFill>
                  <a:srgbClr val="16330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PAYMENTS</a:t>
            </a:r>
            <a:endParaRPr lang="en-US" sz="100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850" dirty="0">
                <a:solidFill>
                  <a:srgbClr val="8686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 — 1</a:t>
            </a:r>
            <a:endParaRPr lang="en-US" sz="1000" dirty="0"/>
          </a:p>
        </p:txBody>
      </p:sp>
      <p:sp>
        <p:nvSpPr>
          <p:cNvPr id="39" name="Shape 35"/>
          <p:cNvSpPr/>
          <p:nvPr/>
        </p:nvSpPr>
        <p:spPr>
          <a:xfrm>
            <a:off x="4754880" y="4791456"/>
            <a:ext cx="141732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9525">
            <a:solidFill>
              <a:srgbClr val="DFE4DC"/>
            </a:solidFill>
            <a:prstDash val="solid"/>
          </a:ln>
        </p:spPr>
      </p:sp>
      <p:sp>
        <p:nvSpPr>
          <p:cNvPr id="40" name="Text 36"/>
          <p:cNvSpPr/>
          <p:nvPr/>
        </p:nvSpPr>
        <p:spPr>
          <a:xfrm>
            <a:off x="4873752" y="4791456"/>
            <a:ext cx="12161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lnSpc>
                <a:spcPct val="102000"/>
              </a:lnSpc>
              <a:buNone/>
            </a:pPr>
            <a:r>
              <a:rPr lang="en-US" sz="1000" dirty="0">
                <a:solidFill>
                  <a:srgbClr val="16330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CHECK-INS</a:t>
            </a:r>
            <a:endParaRPr lang="en-US" sz="100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850" dirty="0">
                <a:solidFill>
                  <a:srgbClr val="8686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 — 1</a:t>
            </a:r>
            <a:endParaRPr lang="en-US" sz="1000" dirty="0"/>
          </a:p>
        </p:txBody>
      </p:sp>
      <p:sp>
        <p:nvSpPr>
          <p:cNvPr id="41" name="Text 37"/>
          <p:cNvSpPr/>
          <p:nvPr/>
        </p:nvSpPr>
        <p:spPr>
          <a:xfrm>
            <a:off x="9601200" y="1901952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60" kern="0" spc="30" dirty="0">
                <a:solidFill>
                  <a:srgbClr val="8686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VIEWS — WHAT EACH PAGE READS</a:t>
            </a:r>
            <a:endParaRPr lang="en-US" sz="760" dirty="0"/>
          </a:p>
        </p:txBody>
      </p:sp>
      <p:sp>
        <p:nvSpPr>
          <p:cNvPr id="42" name="Shape 38"/>
          <p:cNvSpPr/>
          <p:nvPr/>
        </p:nvSpPr>
        <p:spPr>
          <a:xfrm>
            <a:off x="9710928" y="2176272"/>
            <a:ext cx="1609344" cy="603504"/>
          </a:xfrm>
          <a:prstGeom prst="roundRect">
            <a:avLst>
              <a:gd name="adj" fmla="val 15152"/>
            </a:avLst>
          </a:prstGeom>
          <a:solidFill>
            <a:srgbClr val="EFF9E4"/>
          </a:solidFill>
          <a:ln w="9525">
            <a:solidFill>
              <a:srgbClr val="DFE4DC"/>
            </a:solidFill>
            <a:prstDash val="solid"/>
          </a:ln>
          <a:effectLst>
            <a:outerShdw blurRad="127000" dist="38100" dir="5400000" algn="bl" rotWithShape="0">
              <a:srgbClr val="163300">
                <a:alpha val="8000"/>
              </a:srgbClr>
            </a:outerShdw>
          </a:effectLst>
        </p:spPr>
      </p:sp>
      <p:sp>
        <p:nvSpPr>
          <p:cNvPr id="43" name="Text 39"/>
          <p:cNvSpPr/>
          <p:nvPr/>
        </p:nvSpPr>
        <p:spPr>
          <a:xfrm>
            <a:off x="9829800" y="2176272"/>
            <a:ext cx="14081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lnSpc>
                <a:spcPct val="102000"/>
              </a:lnSpc>
              <a:buNone/>
            </a:pPr>
            <a:r>
              <a:rPr lang="en-US" sz="860" dirty="0">
                <a:solidFill>
                  <a:srgbClr val="1633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v_departure_board</a:t>
            </a:r>
            <a:endParaRPr lang="en-US" sz="86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820" dirty="0">
                <a:solidFill>
                  <a:srgbClr val="8686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search page</a:t>
            </a:r>
            <a:endParaRPr lang="en-US" sz="860" dirty="0"/>
          </a:p>
        </p:txBody>
      </p:sp>
      <p:sp>
        <p:nvSpPr>
          <p:cNvPr id="44" name="Shape 40"/>
          <p:cNvSpPr/>
          <p:nvPr/>
        </p:nvSpPr>
        <p:spPr>
          <a:xfrm>
            <a:off x="9710928" y="2871216"/>
            <a:ext cx="1609344" cy="603504"/>
          </a:xfrm>
          <a:prstGeom prst="roundRect">
            <a:avLst>
              <a:gd name="adj" fmla="val 15152"/>
            </a:avLst>
          </a:prstGeom>
          <a:solidFill>
            <a:srgbClr val="EFF9E4"/>
          </a:solidFill>
          <a:ln w="9525">
            <a:solidFill>
              <a:srgbClr val="DFE4DC"/>
            </a:solidFill>
            <a:prstDash val="solid"/>
          </a:ln>
          <a:effectLst>
            <a:outerShdw blurRad="127000" dist="38100" dir="5400000" algn="bl" rotWithShape="0">
              <a:srgbClr val="163300">
                <a:alpha val="8000"/>
              </a:srgbClr>
            </a:outerShdw>
          </a:effectLst>
        </p:spPr>
      </p:sp>
      <p:sp>
        <p:nvSpPr>
          <p:cNvPr id="45" name="Text 41"/>
          <p:cNvSpPr/>
          <p:nvPr/>
        </p:nvSpPr>
        <p:spPr>
          <a:xfrm>
            <a:off x="9829800" y="2871216"/>
            <a:ext cx="14081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lnSpc>
                <a:spcPct val="102000"/>
              </a:lnSpc>
              <a:buNone/>
            </a:pPr>
            <a:r>
              <a:rPr lang="en-US" sz="860" dirty="0">
                <a:solidFill>
                  <a:srgbClr val="1633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v_departure_detail</a:t>
            </a:r>
            <a:endParaRPr lang="en-US" sz="86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820" dirty="0">
                <a:solidFill>
                  <a:srgbClr val="8686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seat-map page</a:t>
            </a:r>
            <a:endParaRPr lang="en-US" sz="860" dirty="0"/>
          </a:p>
        </p:txBody>
      </p:sp>
      <p:sp>
        <p:nvSpPr>
          <p:cNvPr id="46" name="Shape 42"/>
          <p:cNvSpPr/>
          <p:nvPr/>
        </p:nvSpPr>
        <p:spPr>
          <a:xfrm>
            <a:off x="9710928" y="3566160"/>
            <a:ext cx="1609344" cy="603504"/>
          </a:xfrm>
          <a:prstGeom prst="roundRect">
            <a:avLst>
              <a:gd name="adj" fmla="val 15152"/>
            </a:avLst>
          </a:prstGeom>
          <a:solidFill>
            <a:srgbClr val="EFF9E4"/>
          </a:solidFill>
          <a:ln w="9525">
            <a:solidFill>
              <a:srgbClr val="DFE4DC"/>
            </a:solidFill>
            <a:prstDash val="solid"/>
          </a:ln>
          <a:effectLst>
            <a:outerShdw blurRad="127000" dist="38100" dir="5400000" algn="bl" rotWithShape="0">
              <a:srgbClr val="163300">
                <a:alpha val="8000"/>
              </a:srgbClr>
            </a:outerShdw>
          </a:effectLst>
        </p:spPr>
      </p:sp>
      <p:sp>
        <p:nvSpPr>
          <p:cNvPr id="47" name="Text 43"/>
          <p:cNvSpPr/>
          <p:nvPr/>
        </p:nvSpPr>
        <p:spPr>
          <a:xfrm>
            <a:off x="9829800" y="3566160"/>
            <a:ext cx="14081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lnSpc>
                <a:spcPct val="102000"/>
              </a:lnSpc>
              <a:buNone/>
            </a:pPr>
            <a:r>
              <a:rPr lang="en-US" sz="860" dirty="0">
                <a:solidFill>
                  <a:srgbClr val="1633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v_manifest</a:t>
            </a:r>
            <a:endParaRPr lang="en-US" sz="86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820" dirty="0">
                <a:solidFill>
                  <a:srgbClr val="8686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staff manifest</a:t>
            </a:r>
            <a:endParaRPr lang="en-US" sz="860" dirty="0"/>
          </a:p>
        </p:txBody>
      </p:sp>
      <p:sp>
        <p:nvSpPr>
          <p:cNvPr id="48" name="Shape 44"/>
          <p:cNvSpPr/>
          <p:nvPr/>
        </p:nvSpPr>
        <p:spPr>
          <a:xfrm>
            <a:off x="9710928" y="4261104"/>
            <a:ext cx="1609344" cy="603504"/>
          </a:xfrm>
          <a:prstGeom prst="roundRect">
            <a:avLst>
              <a:gd name="adj" fmla="val 15152"/>
            </a:avLst>
          </a:prstGeom>
          <a:solidFill>
            <a:srgbClr val="EFF9E4"/>
          </a:solidFill>
          <a:ln w="9525">
            <a:solidFill>
              <a:srgbClr val="DFE4DC"/>
            </a:solidFill>
            <a:prstDash val="solid"/>
          </a:ln>
          <a:effectLst>
            <a:outerShdw blurRad="127000" dist="38100" dir="5400000" algn="bl" rotWithShape="0">
              <a:srgbClr val="163300">
                <a:alpha val="8000"/>
              </a:srgbClr>
            </a:outerShdw>
          </a:effectLst>
        </p:spPr>
      </p:sp>
      <p:sp>
        <p:nvSpPr>
          <p:cNvPr id="49" name="Text 45"/>
          <p:cNvSpPr/>
          <p:nvPr/>
        </p:nvSpPr>
        <p:spPr>
          <a:xfrm>
            <a:off x="9829800" y="4261104"/>
            <a:ext cx="14081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lnSpc>
                <a:spcPct val="102000"/>
              </a:lnSpc>
              <a:buNone/>
            </a:pPr>
            <a:r>
              <a:rPr lang="en-US" sz="860" dirty="0">
                <a:solidFill>
                  <a:srgbClr val="1633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v_booking_list</a:t>
            </a:r>
            <a:endParaRPr lang="en-US" sz="86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820" dirty="0">
                <a:solidFill>
                  <a:srgbClr val="8686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my bookings</a:t>
            </a:r>
            <a:endParaRPr lang="en-US" sz="860" dirty="0"/>
          </a:p>
        </p:txBody>
      </p:sp>
      <p:sp>
        <p:nvSpPr>
          <p:cNvPr id="50" name="Shape 46"/>
          <p:cNvSpPr/>
          <p:nvPr/>
        </p:nvSpPr>
        <p:spPr>
          <a:xfrm>
            <a:off x="9710928" y="4956048"/>
            <a:ext cx="1609344" cy="603504"/>
          </a:xfrm>
          <a:prstGeom prst="roundRect">
            <a:avLst>
              <a:gd name="adj" fmla="val 15152"/>
            </a:avLst>
          </a:prstGeom>
          <a:solidFill>
            <a:srgbClr val="EFF9E4"/>
          </a:solidFill>
          <a:ln w="9525">
            <a:solidFill>
              <a:srgbClr val="DFE4DC"/>
            </a:solidFill>
            <a:prstDash val="solid"/>
          </a:ln>
          <a:effectLst>
            <a:outerShdw blurRad="127000" dist="38100" dir="5400000" algn="bl" rotWithShape="0">
              <a:srgbClr val="163300">
                <a:alpha val="8000"/>
              </a:srgbClr>
            </a:outerShdw>
          </a:effectLst>
        </p:spPr>
      </p:sp>
      <p:sp>
        <p:nvSpPr>
          <p:cNvPr id="51" name="Text 47"/>
          <p:cNvSpPr/>
          <p:nvPr/>
        </p:nvSpPr>
        <p:spPr>
          <a:xfrm>
            <a:off x="9829800" y="4956048"/>
            <a:ext cx="14081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lnSpc>
                <a:spcPct val="102000"/>
              </a:lnSpc>
              <a:buNone/>
            </a:pPr>
            <a:r>
              <a:rPr lang="en-US" sz="820" dirty="0">
                <a:solidFill>
                  <a:srgbClr val="1633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booking_receipt_view</a:t>
            </a:r>
            <a:endParaRPr lang="en-US" sz="82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820" dirty="0">
                <a:solidFill>
                  <a:srgbClr val="8686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ticket</a:t>
            </a:r>
            <a:endParaRPr lang="en-US" sz="820" dirty="0"/>
          </a:p>
        </p:txBody>
      </p:sp>
      <p:sp>
        <p:nvSpPr>
          <p:cNvPr id="52" name="Text 48"/>
          <p:cNvSpPr/>
          <p:nvPr/>
        </p:nvSpPr>
        <p:spPr>
          <a:xfrm>
            <a:off x="868680" y="5705856"/>
            <a:ext cx="9509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8686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join already lives in the database.</a:t>
            </a:r>
            <a:endParaRPr lang="en-US" sz="1050" dirty="0"/>
          </a:p>
        </p:txBody>
      </p:sp>
      <p:sp>
        <p:nvSpPr>
          <p:cNvPr id="53" name="Text 49"/>
          <p:cNvSpPr/>
          <p:nvPr/>
        </p:nvSpPr>
        <p:spPr>
          <a:xfrm>
            <a:off x="868680" y="6464808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9AA3A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SKYROUTE — DBMS mini project · MySQL 8.0</a:t>
            </a:r>
            <a:endParaRPr lang="en-US" sz="850" dirty="0"/>
          </a:p>
        </p:txBody>
      </p:sp>
      <p:sp>
        <p:nvSpPr>
          <p:cNvPr id="54" name="Text 50"/>
          <p:cNvSpPr/>
          <p:nvPr/>
        </p:nvSpPr>
        <p:spPr>
          <a:xfrm>
            <a:off x="10225735" y="6464808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4C7A1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 / 6</a:t>
            </a:r>
            <a:endParaRPr lang="en-US" sz="85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20">
        <p:push dir="u"/>
      </p:transition>
    </mc:Choice>
    <mc:Fallback>
      <p:transition spd="med"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85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115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4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4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fill="hold" grpId="0" nodeType="withEffect">
                                  <p:stCondLst>
                                    <p:cond delay="155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4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4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nodeType="withEffect">
                                  <p:stCondLst>
                                    <p:cond delay="165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4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grpId="0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4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4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4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nodeType="withEffect">
                                  <p:stCondLst>
                                    <p:cond delay="185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4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grpId="0" nodeType="withEffect">
                                  <p:stCondLst>
                                    <p:cond delay="190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45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grpId="0" nodeType="withEffect">
                                  <p:stCondLst>
                                    <p:cond delay="195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45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45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grpId="0" nodeType="withEffect">
                                  <p:stCondLst>
                                    <p:cond delay="205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45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nodeType="withEffect">
                                  <p:stCondLst>
                                    <p:cond delay="210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45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ntr" presetSubtype="0" fill="hold" grpId="0" nodeType="withEffect">
                                  <p:stCondLst>
                                    <p:cond delay="215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45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7" presetID="10" presetClass="entr" presetSubtype="0" fill="hold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" dur="45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0" presetID="10" presetClass="entr" presetSubtype="0" fill="hold" grpId="0" nodeType="withEffect">
                                  <p:stCondLst>
                                    <p:cond delay="225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" dur="45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3" presetID="10" presetClass="entr" presetSubtype="0" fill="hold" nodeType="withEffect">
                                  <p:stCondLst>
                                    <p:cond delay="230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5" dur="45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6" presetID="10" presetClass="entr" presetSubtype="0" fill="hold" grpId="0" nodeType="withEffect">
                                  <p:stCondLst>
                                    <p:cond delay="235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8" dur="45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9" presetID="10" presetClass="entr" presetSubtype="0" fill="hold" nodeType="withEffect">
                                  <p:stCondLst>
                                    <p:cond delay="240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1" dur="45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2" presetID="10" presetClass="entr" presetSubtype="0" fill="hold" grpId="0" nodeType="withEffect">
                                  <p:stCondLst>
                                    <p:cond delay="245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4" dur="45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5" presetID="10" presetClass="entr" presetSubtype="0" fill="hold" grpId="0" nodeType="withEffect">
                                  <p:stCondLst>
                                    <p:cond delay="250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7" dur="45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5" grpId="0" animBg="1"/>
      <p:bldP spid="6" grpId="0" animBg="1"/>
      <p:bldP spid="7" grpId="0" animBg="1"/>
      <p:bldP spid="9" grpId="0" animBg="1"/>
      <p:bldP spid="11" grpId="0" animBg="1"/>
      <p:bldP spid="13" grpId="0" animBg="1"/>
      <p:bldP spid="15" grpId="0" animBg="1"/>
      <p:bldP spid="17" grpId="0" animBg="1"/>
      <p:bldP spid="19" grpId="0" animBg="1"/>
      <p:bldP spid="20" grpId="0" animBg="1"/>
      <p:bldP spid="21" grpId="0" animBg="1"/>
      <p:bldP spid="23" grpId="0" animBg="1"/>
      <p:bldP spid="25" grpId="0" animBg="1"/>
      <p:bldP spid="26" grpId="0" animBg="1"/>
      <p:bldP spid="27" grpId="0" animBg="1"/>
      <p:bldP spid="29" grpId="0" animBg="1"/>
      <p:bldP spid="31" grpId="0" animBg="1"/>
      <p:bldP spid="32" grpId="0" animBg="1"/>
      <p:bldP spid="33" grpId="0" animBg="1"/>
      <p:bldP spid="34" grpId="0" animBg="1"/>
      <p:bldP spid="36" grpId="0" animBg="1"/>
      <p:bldP spid="38" grpId="0" animBg="1"/>
      <p:bldP spid="40" grpId="0" animBg="1"/>
      <p:bldP spid="41" grpId="0" animBg="1"/>
      <p:bldP spid="43" grpId="0" animBg="1"/>
      <p:bldP spid="45" grpId="0" animBg="1"/>
      <p:bldP spid="47" grpId="0" animBg="1"/>
      <p:bldP spid="49" grpId="0" animBg="1"/>
      <p:bldP spid="51" grpId="0" animBg="1"/>
      <p:bldP spid="52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8680" y="5303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kern="0" spc="260" dirty="0">
                <a:solidFill>
                  <a:srgbClr val="4C7A1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STEP 03 — TABLE CREATION, AND THE GUARDS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868680" y="841248"/>
            <a:ext cx="9692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kern="0" spc="-30" dirty="0">
                <a:solidFill>
                  <a:srgbClr val="163300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WRITTEN ONCE IN SQL</a:t>
            </a:r>
            <a:r>
              <a:rPr lang="en-US" sz="3100" kern="0" spc="-30" dirty="0">
                <a:solidFill>
                  <a:srgbClr val="4C7A1E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.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868680" y="1463040"/>
            <a:ext cx="9509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A6C6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Rules written once — the engine enforces them, no matter who writes.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868680" y="1993392"/>
            <a:ext cx="6309360" cy="3657600"/>
          </a:xfrm>
          <a:prstGeom prst="roundRect">
            <a:avLst>
              <a:gd name="adj" fmla="val 3500"/>
            </a:avLst>
          </a:prstGeom>
          <a:solidFill>
            <a:srgbClr val="0A1503"/>
          </a:solidFill>
          <a:ln w="12700">
            <a:solidFill>
              <a:srgbClr val="1E3320"/>
            </a:solidFill>
            <a:prstDash val="solid"/>
          </a:ln>
          <a:effectLst>
            <a:outerShdw blurRad="304800" dist="101600" dir="5400000" algn="bl" rotWithShape="0">
              <a:srgbClr val="0C1F00">
                <a:alpha val="3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106424" y="2130552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180" dirty="0">
                <a:solidFill>
                  <a:srgbClr val="6E8E7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DBMS/SCHEMA/01-TRAVEL-CORE.SQL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106424" y="2414016"/>
            <a:ext cx="5852160" cy="30906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F2F7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 TABLE Bookings (</a:t>
            </a:r>
            <a:endParaRPr lang="en-US" sz="105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F2F7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booking_id   INT AUTO_INCREMENT PRIMARY KEY,</a:t>
            </a:r>
            <a:endParaRPr lang="en-US" sz="105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F2F7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passenger_id INT NOT NULL,</a:t>
            </a:r>
            <a:endParaRPr lang="en-US" sz="105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F2F7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departure_id INT NOT NULL,</a:t>
            </a:r>
            <a:endParaRPr lang="en-US" sz="105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F2F7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seat_number  VARCHAR(5) NOT NULL,</a:t>
            </a:r>
            <a:endParaRPr lang="en-US" sz="105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F2F7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price  DECIMAL(10,2) CHECK (price &gt;= 0),</a:t>
            </a:r>
            <a:endParaRPr lang="en-US" sz="105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1050" b="1" dirty="0">
                <a:solidFill>
                  <a:srgbClr val="9FE8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UNIQUE KEY uq_booking_seat</a:t>
            </a:r>
            <a:endParaRPr lang="en-US" sz="105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1050" b="1" dirty="0">
                <a:solidFill>
                  <a:srgbClr val="9FE8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(departure_id, seat_number),</a:t>
            </a:r>
            <a:endParaRPr lang="en-US" sz="105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9FBCA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FOREIGN KEY (passenger_id)</a:t>
            </a:r>
            <a:endParaRPr lang="en-US" sz="105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9FBCA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REFERENCES Passengers(passenger_id)</a:t>
            </a:r>
            <a:endParaRPr lang="en-US" sz="105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9FBCA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ON DELETE CASCADE</a:t>
            </a:r>
            <a:endParaRPr lang="en-US" sz="105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F2F7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ENGINE=InnoDB;</a:t>
            </a:r>
            <a:endParaRPr lang="en-US" sz="105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F2F7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 TABLE Baggage (</a:t>
            </a:r>
            <a:endParaRPr lang="en-US" sz="105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F2F7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booking_id INT, baggage_seq INT,</a:t>
            </a:r>
            <a:endParaRPr lang="en-US" sz="105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F2F7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weight_kg DECIMAL(5,2) CHECK (weight_kg &gt; 0 AND weight_kg &lt;= 100),</a:t>
            </a:r>
            <a:endParaRPr lang="en-US" sz="105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6E8E7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PRIMARY KEY (booking_id, baggage_seq)  -- weak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7479792" y="1993392"/>
            <a:ext cx="3843223" cy="1115568"/>
          </a:xfrm>
          <a:prstGeom prst="roundRect">
            <a:avLst>
              <a:gd name="adj" fmla="val 13115"/>
            </a:avLst>
          </a:prstGeom>
          <a:solidFill>
            <a:srgbClr val="FFFFFF"/>
          </a:solidFill>
          <a:ln w="9525">
            <a:solidFill>
              <a:srgbClr val="DFE4DC"/>
            </a:solidFill>
            <a:prstDash val="solid"/>
          </a:ln>
          <a:effectLst>
            <a:outerShdw blurRad="203200" dist="50800" dir="5400000" algn="bl" rotWithShape="0">
              <a:srgbClr val="163300">
                <a:alpha val="10000"/>
              </a:srgbClr>
            </a:outerShdw>
          </a:effectLst>
        </p:spPr>
      </p:sp>
      <p:pic>
        <p:nvPicPr>
          <p:cNvPr id="9" name="Image 0" descr="C:\Users\dwada\AppData\Local\Temp\opencode\assets\icons\lock_fores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2672" y="2157984"/>
            <a:ext cx="256032" cy="256032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8010144" y="2103120"/>
            <a:ext cx="315742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6330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DOUBLE SALE.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8010144" y="2359152"/>
            <a:ext cx="3157423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40" dirty="0">
                <a:solidFill>
                  <a:srgbClr val="054D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UNIQUE(departure_id, seat_number)</a:t>
            </a:r>
            <a:endParaRPr lang="en-US" sz="840" dirty="0"/>
          </a:p>
        </p:txBody>
      </p:sp>
      <p:sp>
        <p:nvSpPr>
          <p:cNvPr id="12" name="Text 9"/>
          <p:cNvSpPr/>
          <p:nvPr/>
        </p:nvSpPr>
        <p:spPr>
          <a:xfrm>
            <a:off x="7662672" y="2596896"/>
            <a:ext cx="347746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900" dirty="0">
                <a:solidFill>
                  <a:srgbClr val="6A6C6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loser's INSERT dies with error 1062 — the engine refuses it.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7479792" y="3236976"/>
            <a:ext cx="3843223" cy="1115568"/>
          </a:xfrm>
          <a:prstGeom prst="roundRect">
            <a:avLst>
              <a:gd name="adj" fmla="val 13115"/>
            </a:avLst>
          </a:prstGeom>
          <a:solidFill>
            <a:srgbClr val="FFFFFF"/>
          </a:solidFill>
          <a:ln w="9525">
            <a:solidFill>
              <a:srgbClr val="DFE4DC"/>
            </a:solidFill>
            <a:prstDash val="solid"/>
          </a:ln>
          <a:effectLst>
            <a:outerShdw blurRad="203200" dist="50800" dir="5400000" algn="bl" rotWithShape="0">
              <a:srgbClr val="163300">
                <a:alpha val="10000"/>
              </a:srgbClr>
            </a:outerShdw>
          </a:effectLst>
        </p:spPr>
      </p:sp>
      <p:pic>
        <p:nvPicPr>
          <p:cNvPr id="14" name="Image 1" descr="C:\Users\dwada\AppData\Local\Temp\opencode\assets\icons\bolt_fores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62672" y="3401568"/>
            <a:ext cx="256032" cy="256032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8010144" y="3346704"/>
            <a:ext cx="315742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6330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OVERSELL FUSE.</a:t>
            </a:r>
            <a:endParaRPr lang="en-US" sz="1200" dirty="0"/>
          </a:p>
        </p:txBody>
      </p:sp>
      <p:sp>
        <p:nvSpPr>
          <p:cNvPr id="16" name="Text 12"/>
          <p:cNvSpPr/>
          <p:nvPr/>
        </p:nvSpPr>
        <p:spPr>
          <a:xfrm>
            <a:off x="8010144" y="3602736"/>
            <a:ext cx="3157423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40" dirty="0">
                <a:solidFill>
                  <a:srgbClr val="054D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trg_booking_capacity</a:t>
            </a:r>
            <a:endParaRPr lang="en-US" sz="840" dirty="0"/>
          </a:p>
        </p:txBody>
      </p:sp>
      <p:sp>
        <p:nvSpPr>
          <p:cNvPr id="17" name="Text 13"/>
          <p:cNvSpPr/>
          <p:nvPr/>
        </p:nvSpPr>
        <p:spPr>
          <a:xfrm>
            <a:off x="7662672" y="3840480"/>
            <a:ext cx="347746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900" dirty="0">
                <a:solidFill>
                  <a:srgbClr val="6A6C6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Counts seats against capacity before every insert; a full plane signals SQLSTATE '45000' (error 1644).</a:t>
            </a:r>
            <a:endParaRPr lang="en-US" sz="900" dirty="0"/>
          </a:p>
        </p:txBody>
      </p:sp>
      <p:sp>
        <p:nvSpPr>
          <p:cNvPr id="18" name="Shape 14"/>
          <p:cNvSpPr/>
          <p:nvPr/>
        </p:nvSpPr>
        <p:spPr>
          <a:xfrm>
            <a:off x="7479792" y="4480560"/>
            <a:ext cx="3843223" cy="1115568"/>
          </a:xfrm>
          <a:prstGeom prst="roundRect">
            <a:avLst>
              <a:gd name="adj" fmla="val 13115"/>
            </a:avLst>
          </a:prstGeom>
          <a:solidFill>
            <a:srgbClr val="FFFFFF"/>
          </a:solidFill>
          <a:ln w="9525">
            <a:solidFill>
              <a:srgbClr val="DFE4DC"/>
            </a:solidFill>
            <a:prstDash val="solid"/>
          </a:ln>
          <a:effectLst>
            <a:outerShdw blurRad="203200" dist="50800" dir="5400000" algn="bl" rotWithShape="0">
              <a:srgbClr val="163300">
                <a:alpha val="10000"/>
              </a:srgbClr>
            </a:outerShdw>
          </a:effectLst>
        </p:spPr>
      </p:sp>
      <p:pic>
        <p:nvPicPr>
          <p:cNvPr id="19" name="Image 2" descr="C:\Users\dwada\AppData\Local\Temp\opencode\assets\icons\receipt_fores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62672" y="4645152"/>
            <a:ext cx="256032" cy="256032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8010144" y="4590288"/>
            <a:ext cx="315742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6330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HAGGLED FEE.</a:t>
            </a:r>
            <a:endParaRPr lang="en-US" sz="1200" dirty="0"/>
          </a:p>
        </p:txBody>
      </p:sp>
      <p:sp>
        <p:nvSpPr>
          <p:cNvPr id="21" name="Text 16"/>
          <p:cNvSpPr/>
          <p:nvPr/>
        </p:nvSpPr>
        <p:spPr>
          <a:xfrm>
            <a:off x="8010144" y="4846320"/>
            <a:ext cx="3157423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40" dirty="0">
                <a:solidFill>
                  <a:srgbClr val="054D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booking_receipt_view</a:t>
            </a:r>
            <a:endParaRPr lang="en-US" sz="840" dirty="0"/>
          </a:p>
        </p:txBody>
      </p:sp>
      <p:sp>
        <p:nvSpPr>
          <p:cNvPr id="22" name="Text 17"/>
          <p:cNvSpPr/>
          <p:nvPr/>
        </p:nvSpPr>
        <p:spPr>
          <a:xfrm>
            <a:off x="7662672" y="5084064"/>
            <a:ext cx="347746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900" dirty="0">
                <a:solidFill>
                  <a:srgbClr val="6A6C6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 kg free · ₹500 per extra kg — identical on every desk.</a:t>
            </a:r>
            <a:endParaRPr lang="en-US" sz="900" dirty="0"/>
          </a:p>
        </p:txBody>
      </p:sp>
      <p:sp>
        <p:nvSpPr>
          <p:cNvPr id="23" name="Shape 18"/>
          <p:cNvSpPr/>
          <p:nvPr/>
        </p:nvSpPr>
        <p:spPr>
          <a:xfrm>
            <a:off x="868680" y="5852160"/>
            <a:ext cx="10451592" cy="402336"/>
          </a:xfrm>
          <a:prstGeom prst="roundRect">
            <a:avLst>
              <a:gd name="adj" fmla="val 50000"/>
            </a:avLst>
          </a:prstGeom>
          <a:solidFill>
            <a:srgbClr val="E2F6D5"/>
          </a:solidFill>
          <a:ln/>
        </p:spPr>
      </p:sp>
      <p:sp>
        <p:nvSpPr>
          <p:cNvPr id="24" name="Text 19"/>
          <p:cNvSpPr/>
          <p:nvPr/>
        </p:nvSpPr>
        <p:spPr>
          <a:xfrm>
            <a:off x="868680" y="5852160"/>
            <a:ext cx="10451592" cy="4023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16330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One seat. One row. The second INSERT dies — that's the engine, not the app.</a:t>
            </a:r>
            <a:endParaRPr lang="en-US" sz="1050" dirty="0"/>
          </a:p>
        </p:txBody>
      </p:sp>
      <p:sp>
        <p:nvSpPr>
          <p:cNvPr id="25" name="Text 20"/>
          <p:cNvSpPr/>
          <p:nvPr/>
        </p:nvSpPr>
        <p:spPr>
          <a:xfrm>
            <a:off x="868680" y="6464808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9AA3A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SKYROUTE — DBMS mini project · MySQL 8.0</a:t>
            </a:r>
            <a:endParaRPr lang="en-US" sz="850" dirty="0"/>
          </a:p>
        </p:txBody>
      </p:sp>
      <p:sp>
        <p:nvSpPr>
          <p:cNvPr id="26" name="Text 21"/>
          <p:cNvSpPr/>
          <p:nvPr/>
        </p:nvSpPr>
        <p:spPr>
          <a:xfrm>
            <a:off x="10225735" y="6464808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4C7A1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 / 6</a:t>
            </a:r>
            <a:endParaRPr lang="en-US" sz="85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52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42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85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6" grpId="0" animBg="1"/>
      <p:bldP spid="7" grpId="0" animBg="1"/>
      <p:bldP spid="10" grpId="0" animBg="1"/>
      <p:bldP spid="11" grpId="0" animBg="1"/>
      <p:bldP spid="12" grpId="0" animBg="1"/>
      <p:bldP spid="15" grpId="0" animBg="1"/>
      <p:bldP spid="16" grpId="0" animBg="1"/>
      <p:bldP spid="17" grpId="0" animBg="1"/>
      <p:bldP spid="20" grpId="0" animBg="1"/>
      <p:bldP spid="21" grpId="0" animBg="1"/>
      <p:bldP spid="22" grpId="0" animBg="1"/>
      <p:bldP spid="24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8680" y="5303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kern="0" spc="260" dirty="0">
                <a:solidFill>
                  <a:srgbClr val="4C7A1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STEP 04 — BASIC CRUD ON THE REAL SITE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868680" y="841248"/>
            <a:ext cx="9692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kern="0" spc="-30" dirty="0">
                <a:solidFill>
                  <a:srgbClr val="163300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EVERY LETTER HAS A ROUTE</a:t>
            </a:r>
            <a:r>
              <a:rPr lang="en-US" sz="3100" kern="0" spc="-30" dirty="0">
                <a:solidFill>
                  <a:srgbClr val="4C7A1E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.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868680" y="1463040"/>
            <a:ext cx="9509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A6C6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Same twelve tables behind all of it — no duplicated logic, the engine carries the rules.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868680" y="1993392"/>
            <a:ext cx="5111496" cy="1810512"/>
          </a:xfrm>
          <a:prstGeom prst="roundRect">
            <a:avLst>
              <a:gd name="adj" fmla="val 8081"/>
            </a:avLst>
          </a:prstGeom>
          <a:solidFill>
            <a:srgbClr val="FFFFFF"/>
          </a:solidFill>
          <a:ln w="9525">
            <a:solidFill>
              <a:srgbClr val="DFE4DC"/>
            </a:solidFill>
            <a:prstDash val="solid"/>
          </a:ln>
          <a:effectLst>
            <a:outerShdw blurRad="203200" dist="50800" dir="5400000" algn="bl" rotWithShape="0">
              <a:srgbClr val="163300">
                <a:alpha val="10000"/>
              </a:srgbClr>
            </a:outerShdw>
          </a:effectLst>
        </p:spPr>
      </p:sp>
      <p:pic>
        <p:nvPicPr>
          <p:cNvPr id="6" name="Image 0" descr="C:\Users\dwada\AppData\Local\Temp\opencode\assets\icons\bolt_fores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8136" y="2194560"/>
            <a:ext cx="274320" cy="2743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53896" y="2139696"/>
            <a:ext cx="2734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kern="0" spc="20" dirty="0">
                <a:solidFill>
                  <a:srgbClr val="163300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C · CREATE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1453896" y="2432304"/>
            <a:ext cx="42885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4C7A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Book a seat — /book/&lt;dep&gt;</a:t>
            </a:r>
            <a:endParaRPr lang="en-US" sz="880" dirty="0"/>
          </a:p>
        </p:txBody>
      </p:sp>
      <p:sp>
        <p:nvSpPr>
          <p:cNvPr id="9" name="Shape 6"/>
          <p:cNvSpPr/>
          <p:nvPr/>
        </p:nvSpPr>
        <p:spPr>
          <a:xfrm>
            <a:off x="1088136" y="2761488"/>
            <a:ext cx="4654296" cy="329184"/>
          </a:xfrm>
          <a:prstGeom prst="roundRect">
            <a:avLst>
              <a:gd name="adj" fmla="val 22222"/>
            </a:avLst>
          </a:prstGeom>
          <a:solidFill>
            <a:srgbClr val="EFF9E4"/>
          </a:solidFill>
          <a:ln w="7620">
            <a:solidFill>
              <a:srgbClr val="C9E5B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1216152" y="2761488"/>
            <a:ext cx="44165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20" dirty="0">
                <a:solidFill>
                  <a:srgbClr val="054D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CALL sp_make_booking(...)</a:t>
            </a:r>
            <a:endParaRPr lang="en-US" sz="920" dirty="0"/>
          </a:p>
        </p:txBody>
      </p:sp>
      <p:sp>
        <p:nvSpPr>
          <p:cNvPr id="11" name="Text 8"/>
          <p:cNvSpPr/>
          <p:nvPr/>
        </p:nvSpPr>
        <p:spPr>
          <a:xfrm>
            <a:off x="1088136" y="3163824"/>
            <a:ext cx="46542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4000"/>
              </a:lnSpc>
              <a:buNone/>
            </a:pPr>
            <a:r>
              <a:rPr lang="en-US" sz="960" dirty="0">
                <a:solidFill>
                  <a:srgbClr val="6A6C6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seat + its Pending payment, one commit; bags ride along at /baggage/&lt;bid&gt;</a:t>
            </a:r>
            <a:endParaRPr lang="en-US" sz="960" dirty="0"/>
          </a:p>
        </p:txBody>
      </p:sp>
      <p:sp>
        <p:nvSpPr>
          <p:cNvPr id="12" name="Shape 9"/>
          <p:cNvSpPr/>
          <p:nvPr/>
        </p:nvSpPr>
        <p:spPr>
          <a:xfrm>
            <a:off x="6208776" y="1993392"/>
            <a:ext cx="5111496" cy="1810512"/>
          </a:xfrm>
          <a:prstGeom prst="roundRect">
            <a:avLst>
              <a:gd name="adj" fmla="val 8081"/>
            </a:avLst>
          </a:prstGeom>
          <a:solidFill>
            <a:srgbClr val="FFFFFF"/>
          </a:solidFill>
          <a:ln w="9525">
            <a:solidFill>
              <a:srgbClr val="DFE4DC"/>
            </a:solidFill>
            <a:prstDash val="solid"/>
          </a:ln>
          <a:effectLst>
            <a:outerShdw blurRad="203200" dist="50800" dir="5400000" algn="bl" rotWithShape="0">
              <a:srgbClr val="163300">
                <a:alpha val="10000"/>
              </a:srgbClr>
            </a:outerShdw>
          </a:effectLst>
        </p:spPr>
      </p:sp>
      <p:pic>
        <p:nvPicPr>
          <p:cNvPr id="13" name="Image 1" descr="C:\Users\dwada\AppData\Local\Temp\opencode\assets\icons\search_fores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8232" y="2194560"/>
            <a:ext cx="274320" cy="27432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6793992" y="2139696"/>
            <a:ext cx="2734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kern="0" spc="20" dirty="0">
                <a:solidFill>
                  <a:srgbClr val="163300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R · READ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6793992" y="2432304"/>
            <a:ext cx="42885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4C7A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Every list — search, tickets, manifest</a:t>
            </a:r>
            <a:endParaRPr lang="en-US" sz="880" dirty="0"/>
          </a:p>
        </p:txBody>
      </p:sp>
      <p:sp>
        <p:nvSpPr>
          <p:cNvPr id="16" name="Shape 12"/>
          <p:cNvSpPr/>
          <p:nvPr/>
        </p:nvSpPr>
        <p:spPr>
          <a:xfrm>
            <a:off x="6428232" y="2761488"/>
            <a:ext cx="4654296" cy="329184"/>
          </a:xfrm>
          <a:prstGeom prst="roundRect">
            <a:avLst>
              <a:gd name="adj" fmla="val 22222"/>
            </a:avLst>
          </a:prstGeom>
          <a:solidFill>
            <a:srgbClr val="EFF9E4"/>
          </a:solidFill>
          <a:ln w="7620">
            <a:solidFill>
              <a:srgbClr val="C9E5B0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556248" y="2761488"/>
            <a:ext cx="44165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20" dirty="0">
                <a:solidFill>
                  <a:srgbClr val="054D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 * FROM v_departure_board;</a:t>
            </a:r>
            <a:endParaRPr lang="en-US" sz="920" dirty="0"/>
          </a:p>
        </p:txBody>
      </p:sp>
      <p:sp>
        <p:nvSpPr>
          <p:cNvPr id="18" name="Text 14"/>
          <p:cNvSpPr/>
          <p:nvPr/>
        </p:nvSpPr>
        <p:spPr>
          <a:xfrm>
            <a:off x="6428232" y="3163824"/>
            <a:ext cx="46542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4000"/>
              </a:lnSpc>
              <a:buNone/>
            </a:pPr>
            <a:r>
              <a:rPr lang="en-US" sz="960" dirty="0">
                <a:solidFill>
                  <a:srgbClr val="6A6C6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views return whole screens; no SQL inside the browser</a:t>
            </a:r>
            <a:endParaRPr lang="en-US" sz="960" dirty="0"/>
          </a:p>
        </p:txBody>
      </p:sp>
      <p:sp>
        <p:nvSpPr>
          <p:cNvPr id="19" name="Shape 15"/>
          <p:cNvSpPr/>
          <p:nvPr/>
        </p:nvSpPr>
        <p:spPr>
          <a:xfrm>
            <a:off x="868680" y="4032504"/>
            <a:ext cx="5111496" cy="1810512"/>
          </a:xfrm>
          <a:prstGeom prst="roundRect">
            <a:avLst>
              <a:gd name="adj" fmla="val 8081"/>
            </a:avLst>
          </a:prstGeom>
          <a:solidFill>
            <a:srgbClr val="FFFFFF"/>
          </a:solidFill>
          <a:ln w="9525">
            <a:solidFill>
              <a:srgbClr val="DFE4DC"/>
            </a:solidFill>
            <a:prstDash val="solid"/>
          </a:ln>
          <a:effectLst>
            <a:outerShdw blurRad="203200" dist="50800" dir="5400000" algn="bl" rotWithShape="0">
              <a:srgbClr val="163300">
                <a:alpha val="10000"/>
              </a:srgbClr>
            </a:outerShdw>
          </a:effectLst>
        </p:spPr>
      </p:sp>
      <p:pic>
        <p:nvPicPr>
          <p:cNvPr id="20" name="Image 2" descr="C:\Users\dwada\AppData\Local\Temp\opencode\assets\icons\checkup_fores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88136" y="4233672"/>
            <a:ext cx="274320" cy="274320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1453896" y="4178808"/>
            <a:ext cx="2734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kern="0" spc="20" dirty="0">
                <a:solidFill>
                  <a:srgbClr val="163300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U · UPDATE</a:t>
            </a:r>
            <a:endParaRPr lang="en-US" sz="1400" dirty="0"/>
          </a:p>
        </p:txBody>
      </p:sp>
      <p:sp>
        <p:nvSpPr>
          <p:cNvPr id="22" name="Text 17"/>
          <p:cNvSpPr/>
          <p:nvPr/>
        </p:nvSpPr>
        <p:spPr>
          <a:xfrm>
            <a:off x="1453896" y="4471416"/>
            <a:ext cx="42885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4C7A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Check in, pay, edit</a:t>
            </a:r>
            <a:endParaRPr lang="en-US" sz="880" dirty="0"/>
          </a:p>
        </p:txBody>
      </p:sp>
      <p:sp>
        <p:nvSpPr>
          <p:cNvPr id="23" name="Shape 18"/>
          <p:cNvSpPr/>
          <p:nvPr/>
        </p:nvSpPr>
        <p:spPr>
          <a:xfrm>
            <a:off x="1088136" y="4800600"/>
            <a:ext cx="4654296" cy="329184"/>
          </a:xfrm>
          <a:prstGeom prst="roundRect">
            <a:avLst>
              <a:gd name="adj" fmla="val 22222"/>
            </a:avLst>
          </a:prstGeom>
          <a:solidFill>
            <a:srgbClr val="EFF9E4"/>
          </a:solidFill>
          <a:ln w="7620">
            <a:solidFill>
              <a:srgbClr val="C9E5B0"/>
            </a:solidFill>
            <a:prstDash val="solid"/>
          </a:ln>
        </p:spPr>
      </p:sp>
      <p:sp>
        <p:nvSpPr>
          <p:cNvPr id="24" name="Text 19"/>
          <p:cNvSpPr/>
          <p:nvPr/>
        </p:nvSpPr>
        <p:spPr>
          <a:xfrm>
            <a:off x="1216152" y="4800600"/>
            <a:ext cx="44165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20" dirty="0">
                <a:solidFill>
                  <a:srgbClr val="054D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UPDATE Payments SET pay_status='Paid'</a:t>
            </a:r>
            <a:endParaRPr lang="en-US" sz="920" dirty="0"/>
          </a:p>
        </p:txBody>
      </p:sp>
      <p:sp>
        <p:nvSpPr>
          <p:cNvPr id="25" name="Text 20"/>
          <p:cNvSpPr/>
          <p:nvPr/>
        </p:nvSpPr>
        <p:spPr>
          <a:xfrm>
            <a:off x="1088136" y="5202936"/>
            <a:ext cx="46542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4000"/>
              </a:lnSpc>
              <a:buNone/>
            </a:pPr>
            <a:r>
              <a:rPr lang="en-US" sz="960" dirty="0">
                <a:solidFill>
                  <a:srgbClr val="6A6C6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typed ENUM states; check-in stamps Check_Ins, edits touch one row</a:t>
            </a:r>
            <a:endParaRPr lang="en-US" sz="960" dirty="0"/>
          </a:p>
        </p:txBody>
      </p:sp>
      <p:sp>
        <p:nvSpPr>
          <p:cNvPr id="26" name="Shape 21"/>
          <p:cNvSpPr/>
          <p:nvPr/>
        </p:nvSpPr>
        <p:spPr>
          <a:xfrm>
            <a:off x="6208776" y="4032504"/>
            <a:ext cx="5111496" cy="1810512"/>
          </a:xfrm>
          <a:prstGeom prst="roundRect">
            <a:avLst>
              <a:gd name="adj" fmla="val 8081"/>
            </a:avLst>
          </a:prstGeom>
          <a:solidFill>
            <a:srgbClr val="FFFFFF"/>
          </a:solidFill>
          <a:ln w="9525">
            <a:solidFill>
              <a:srgbClr val="DFE4DC"/>
            </a:solidFill>
            <a:prstDash val="solid"/>
          </a:ln>
          <a:effectLst>
            <a:outerShdw blurRad="203200" dist="50800" dir="5400000" algn="bl" rotWithShape="0">
              <a:srgbClr val="163300">
                <a:alpha val="10000"/>
              </a:srgbClr>
            </a:outerShdw>
          </a:effectLst>
        </p:spPr>
      </p:sp>
      <p:pic>
        <p:nvPicPr>
          <p:cNvPr id="27" name="Image 3" descr="C:\Users\dwada\AppData\Local\Temp\opencode\assets\icons\x_fores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28232" y="4233672"/>
            <a:ext cx="274320" cy="274320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6793992" y="4178808"/>
            <a:ext cx="2734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kern="0" spc="20" dirty="0">
                <a:solidFill>
                  <a:srgbClr val="163300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D · DELETE</a:t>
            </a:r>
            <a:endParaRPr lang="en-US" sz="1400" dirty="0"/>
          </a:p>
        </p:txBody>
      </p:sp>
      <p:sp>
        <p:nvSpPr>
          <p:cNvPr id="29" name="Text 23"/>
          <p:cNvSpPr/>
          <p:nvPr/>
        </p:nvSpPr>
        <p:spPr>
          <a:xfrm>
            <a:off x="6793992" y="4471416"/>
            <a:ext cx="42885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4C7A1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Cancel or delete — /bookings/&lt;bid&gt;/delete</a:t>
            </a:r>
            <a:endParaRPr lang="en-US" sz="880" dirty="0"/>
          </a:p>
        </p:txBody>
      </p:sp>
      <p:sp>
        <p:nvSpPr>
          <p:cNvPr id="30" name="Shape 24"/>
          <p:cNvSpPr/>
          <p:nvPr/>
        </p:nvSpPr>
        <p:spPr>
          <a:xfrm>
            <a:off x="6428232" y="4800600"/>
            <a:ext cx="4654296" cy="329184"/>
          </a:xfrm>
          <a:prstGeom prst="roundRect">
            <a:avLst>
              <a:gd name="adj" fmla="val 22222"/>
            </a:avLst>
          </a:prstGeom>
          <a:solidFill>
            <a:srgbClr val="EFF9E4"/>
          </a:solidFill>
          <a:ln w="7620">
            <a:solidFill>
              <a:srgbClr val="C9E5B0"/>
            </a:solidFill>
            <a:prstDash val="solid"/>
          </a:ln>
        </p:spPr>
      </p:sp>
      <p:sp>
        <p:nvSpPr>
          <p:cNvPr id="31" name="Text 25"/>
          <p:cNvSpPr/>
          <p:nvPr/>
        </p:nvSpPr>
        <p:spPr>
          <a:xfrm>
            <a:off x="6556248" y="4800600"/>
            <a:ext cx="44165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20" dirty="0">
                <a:solidFill>
                  <a:srgbClr val="054D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 DELETE CASCADE</a:t>
            </a:r>
            <a:endParaRPr lang="en-US" sz="920" dirty="0"/>
          </a:p>
        </p:txBody>
      </p:sp>
      <p:sp>
        <p:nvSpPr>
          <p:cNvPr id="32" name="Text 26"/>
          <p:cNvSpPr/>
          <p:nvPr/>
        </p:nvSpPr>
        <p:spPr>
          <a:xfrm>
            <a:off x="6428232" y="5202936"/>
            <a:ext cx="46542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4000"/>
              </a:lnSpc>
              <a:buNone/>
            </a:pPr>
            <a:r>
              <a:rPr lang="en-US" sz="960" dirty="0">
                <a:solidFill>
                  <a:srgbClr val="6A6C6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cancel keeps history as 'Cancelled'; delete takes bags, check-in and payment with it</a:t>
            </a:r>
            <a:endParaRPr lang="en-US" sz="960" dirty="0"/>
          </a:p>
        </p:txBody>
      </p:sp>
      <p:sp>
        <p:nvSpPr>
          <p:cNvPr id="33" name="Shape 27"/>
          <p:cNvSpPr/>
          <p:nvPr/>
        </p:nvSpPr>
        <p:spPr>
          <a:xfrm>
            <a:off x="868680" y="5870448"/>
            <a:ext cx="10451592" cy="402336"/>
          </a:xfrm>
          <a:prstGeom prst="roundRect">
            <a:avLst>
              <a:gd name="adj" fmla="val 50000"/>
            </a:avLst>
          </a:prstGeom>
          <a:solidFill>
            <a:srgbClr val="9FE870"/>
          </a:solidFill>
          <a:ln/>
        </p:spPr>
      </p:sp>
      <p:sp>
        <p:nvSpPr>
          <p:cNvPr id="34" name="Text 28"/>
          <p:cNvSpPr/>
          <p:nvPr/>
        </p:nvSpPr>
        <p:spPr>
          <a:xfrm>
            <a:off x="868680" y="5870448"/>
            <a:ext cx="10451592" cy="4023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6330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Create is guarded · read is views · update is typed · delete cascades</a:t>
            </a:r>
            <a:endParaRPr lang="en-US" sz="1050" dirty="0"/>
          </a:p>
        </p:txBody>
      </p:sp>
      <p:sp>
        <p:nvSpPr>
          <p:cNvPr id="35" name="Text 29"/>
          <p:cNvSpPr/>
          <p:nvPr/>
        </p:nvSpPr>
        <p:spPr>
          <a:xfrm>
            <a:off x="868680" y="6464808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9AA3A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SKYROUTE — DBMS mini project · MySQL 8.0</a:t>
            </a:r>
            <a:endParaRPr lang="en-US" sz="850" dirty="0"/>
          </a:p>
        </p:txBody>
      </p:sp>
      <p:sp>
        <p:nvSpPr>
          <p:cNvPr id="36" name="Text 30"/>
          <p:cNvSpPr/>
          <p:nvPr/>
        </p:nvSpPr>
        <p:spPr>
          <a:xfrm>
            <a:off x="10225735" y="6464808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4C7A1E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05 / 6</a:t>
            </a:r>
            <a:endParaRPr lang="en-US" sz="85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20">
        <p:push dir="u"/>
      </p:transition>
    </mc:Choice>
    <mc:Fallback>
      <p:transition spd="med">
        <p:push dir="u"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42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42" presetClass="entr" presetSubtype="0" fill="hold" nodeType="withEffect">
                                  <p:stCondLst>
                                    <p:cond delay="85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5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5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115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42" presetClass="entr" presetSubtype="0" fill="hold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6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7" dur="5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grpId="0" nodeType="withEffect">
                                  <p:stCondLst>
                                    <p:cond delay="135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nodeType="withEffect">
                                  <p:stCondLst>
                                    <p:cond delay="140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4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grpId="0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4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4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ntr" presetSubtype="0" fill="hold" nodeType="withEffect">
                                  <p:stCondLst>
                                    <p:cond delay="155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4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grpId="0" nodeType="withEffect">
                                  <p:stCondLst>
                                    <p:cond delay="160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4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7" grpId="0" animBg="1"/>
      <p:bldP spid="8" grpId="0" animBg="1"/>
      <p:bldP spid="10" grpId="0" animBg="1"/>
      <p:bldP spid="11" grpId="0" animBg="1"/>
      <p:bldP spid="14" grpId="0" animBg="1"/>
      <p:bldP spid="15" grpId="0" animBg="1"/>
      <p:bldP spid="17" grpId="0" animBg="1"/>
      <p:bldP spid="18" grpId="0" animBg="1"/>
      <p:bldP spid="21" grpId="0" animBg="1"/>
      <p:bldP spid="22" grpId="0" animBg="1"/>
      <p:bldP spid="24" grpId="0" animBg="1"/>
      <p:bldP spid="25" grpId="0" animBg="1"/>
      <p:bldP spid="28" grpId="0" animBg="1"/>
      <p:bldP spid="29" grpId="0" animBg="1"/>
      <p:bldP spid="31" grpId="0" animBg="1"/>
      <p:bldP spid="32" grpId="0" animBg="1"/>
      <p:bldP spid="3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8680" y="786384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kern="0" spc="260" dirty="0">
                <a:solidFill>
                  <a:srgbClr val="9FE87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WRAPPING UP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896112" y="1078992"/>
            <a:ext cx="102412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5400" kern="0" spc="-60" dirty="0">
                <a:solidFill>
                  <a:srgbClr val="FFFFFF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THAT'S</a:t>
            </a:r>
            <a:endParaRPr lang="en-US" sz="54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5400" kern="0" spc="-60" dirty="0">
                <a:solidFill>
                  <a:srgbClr val="FFFFFF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SKYROUTE</a:t>
            </a:r>
            <a:r>
              <a:rPr lang="en-US" sz="5400" kern="0" spc="-60" dirty="0">
                <a:solidFill>
                  <a:srgbClr val="9FE870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.</a:t>
            </a:r>
            <a:endParaRPr lang="en-US" sz="5400" dirty="0"/>
          </a:p>
        </p:txBody>
      </p:sp>
      <p:sp>
        <p:nvSpPr>
          <p:cNvPr id="4" name="Shape 2"/>
          <p:cNvSpPr/>
          <p:nvPr/>
        </p:nvSpPr>
        <p:spPr>
          <a:xfrm>
            <a:off x="9006840" y="1481328"/>
            <a:ext cx="1828800" cy="0"/>
          </a:xfrm>
          <a:prstGeom prst="line">
            <a:avLst/>
          </a:prstGeom>
          <a:noFill/>
          <a:ln w="15875">
            <a:solidFill>
              <a:srgbClr val="9FE870"/>
            </a:solidFill>
            <a:prstDash val="dash"/>
          </a:ln>
        </p:spPr>
      </p:sp>
      <p:sp>
        <p:nvSpPr>
          <p:cNvPr id="5" name="Shape 3"/>
          <p:cNvSpPr/>
          <p:nvPr/>
        </p:nvSpPr>
        <p:spPr>
          <a:xfrm>
            <a:off x="9710928" y="1280160"/>
            <a:ext cx="420624" cy="420624"/>
          </a:xfrm>
          <a:prstGeom prst="ellipse">
            <a:avLst/>
          </a:prstGeom>
          <a:solidFill>
            <a:srgbClr val="9FE870"/>
          </a:solidFill>
          <a:ln/>
        </p:spPr>
      </p:sp>
      <p:pic>
        <p:nvPicPr>
          <p:cNvPr id="6" name="Image 0" descr="C:\Users\dwada\AppData\Local\Temp\opencode\assets\icons\plane_fores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16084" y="1376172"/>
            <a:ext cx="210312" cy="210312"/>
          </a:xfrm>
          <a:prstGeom prst="rect">
            <a:avLst/>
          </a:prstGeom>
        </p:spPr>
      </p:pic>
      <p:pic>
        <p:nvPicPr>
          <p:cNvPr id="7" name="Image 1" descr="C:\Users\dwada\AppData\Local\Temp\opencode\assets\icons\planeTilt_lim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600000">
            <a:off x="10369296" y="932688"/>
            <a:ext cx="420624" cy="420624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896112" y="3657600"/>
            <a:ext cx="3383280" cy="402336"/>
          </a:xfrm>
          <a:prstGeom prst="roundRect">
            <a:avLst>
              <a:gd name="adj" fmla="val 50000"/>
            </a:avLst>
          </a:prstGeom>
          <a:solidFill>
            <a:srgbClr val="FFFFFF">
              <a:alpha val="7000"/>
            </a:srgbClr>
          </a:solidFill>
          <a:ln w="9525">
            <a:solidFill>
              <a:srgbClr val="FFFFFF">
                <a:alpha val="20000"/>
              </a:srgbClr>
            </a:solidFill>
            <a:prstDash val="solid"/>
          </a:ln>
        </p:spPr>
      </p:sp>
      <p:pic>
        <p:nvPicPr>
          <p:cNvPr id="9" name="Image 2" descr="C:\Users\dwada\AppData\Local\Temp\opencode\assets\icons\check_lim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2416" y="3758184"/>
            <a:ext cx="201168" cy="201168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1280160" y="3657600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CFE3C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front end — shown live</a:t>
            </a:r>
            <a:endParaRPr lang="en-US" sz="1050" dirty="0"/>
          </a:p>
        </p:txBody>
      </p:sp>
      <p:sp>
        <p:nvSpPr>
          <p:cNvPr id="11" name="Shape 6"/>
          <p:cNvSpPr/>
          <p:nvPr/>
        </p:nvSpPr>
        <p:spPr>
          <a:xfrm>
            <a:off x="4425696" y="3657600"/>
            <a:ext cx="3383280" cy="402336"/>
          </a:xfrm>
          <a:prstGeom prst="roundRect">
            <a:avLst>
              <a:gd name="adj" fmla="val 50000"/>
            </a:avLst>
          </a:prstGeom>
          <a:solidFill>
            <a:srgbClr val="FFFFFF">
              <a:alpha val="7000"/>
            </a:srgbClr>
          </a:solidFill>
          <a:ln w="9525">
            <a:solidFill>
              <a:srgbClr val="FFFFFF">
                <a:alpha val="20000"/>
              </a:srgbClr>
            </a:solidFill>
            <a:prstDash val="solid"/>
          </a:ln>
        </p:spPr>
      </p:sp>
      <p:pic>
        <p:nvPicPr>
          <p:cNvPr id="12" name="Image 3" descr="C:\Users\dwada\AppData\Local\Temp\opencode\assets\icons\check_lim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0" y="3758184"/>
            <a:ext cx="201168" cy="201168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4809744" y="3657600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CFE3C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write into MySQL — live</a:t>
            </a:r>
            <a:endParaRPr lang="en-US" sz="1050" dirty="0"/>
          </a:p>
        </p:txBody>
      </p:sp>
      <p:sp>
        <p:nvSpPr>
          <p:cNvPr id="14" name="Shape 8"/>
          <p:cNvSpPr/>
          <p:nvPr/>
        </p:nvSpPr>
        <p:spPr>
          <a:xfrm>
            <a:off x="7955280" y="3657600"/>
            <a:ext cx="3383280" cy="402336"/>
          </a:xfrm>
          <a:prstGeom prst="roundRect">
            <a:avLst>
              <a:gd name="adj" fmla="val 50000"/>
            </a:avLst>
          </a:prstGeom>
          <a:solidFill>
            <a:srgbClr val="FFFFFF">
              <a:alpha val="7000"/>
            </a:srgbClr>
          </a:solidFill>
          <a:ln w="9525">
            <a:solidFill>
              <a:srgbClr val="FFFFFF">
                <a:alpha val="20000"/>
              </a:srgbClr>
            </a:solidFill>
            <a:prstDash val="solid"/>
          </a:ln>
        </p:spPr>
      </p:sp>
      <p:pic>
        <p:nvPicPr>
          <p:cNvPr id="15" name="Image 4" descr="C:\Users\dwada\AppData\Local\Temp\opencode\assets\icons\check_lim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01584" y="3758184"/>
            <a:ext cx="201168" cy="201168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8339328" y="3657600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CFE3C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12 tables · 5 views</a:t>
            </a:r>
            <a:endParaRPr lang="en-US" sz="1050" dirty="0"/>
          </a:p>
        </p:txBody>
      </p:sp>
      <p:sp>
        <p:nvSpPr>
          <p:cNvPr id="17" name="Shape 10"/>
          <p:cNvSpPr/>
          <p:nvPr/>
        </p:nvSpPr>
        <p:spPr>
          <a:xfrm>
            <a:off x="896112" y="4169664"/>
            <a:ext cx="3383280" cy="402336"/>
          </a:xfrm>
          <a:prstGeom prst="roundRect">
            <a:avLst>
              <a:gd name="adj" fmla="val 50000"/>
            </a:avLst>
          </a:prstGeom>
          <a:solidFill>
            <a:srgbClr val="FFFFFF">
              <a:alpha val="7000"/>
            </a:srgbClr>
          </a:solidFill>
          <a:ln w="9525">
            <a:solidFill>
              <a:srgbClr val="FFFFFF">
                <a:alpha val="20000"/>
              </a:srgbClr>
            </a:solidFill>
            <a:prstDash val="solid"/>
          </a:ln>
        </p:spPr>
      </p:sp>
      <p:pic>
        <p:nvPicPr>
          <p:cNvPr id="18" name="Image 5" descr="C:\Users\dwada\AppData\Local\Temp\opencode\assets\icons\check_lim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2416" y="4270248"/>
            <a:ext cx="201168" cy="201168"/>
          </a:xfrm>
          <a:prstGeom prst="rect">
            <a:avLst/>
          </a:prstGeom>
        </p:spPr>
      </p:pic>
      <p:sp>
        <p:nvSpPr>
          <p:cNvPr id="19" name="Text 11"/>
          <p:cNvSpPr/>
          <p:nvPr/>
        </p:nvSpPr>
        <p:spPr>
          <a:xfrm>
            <a:off x="1280160" y="4169664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CFE3C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14 FKs — one schema</a:t>
            </a:r>
            <a:endParaRPr lang="en-US" sz="1050" dirty="0"/>
          </a:p>
        </p:txBody>
      </p:sp>
      <p:sp>
        <p:nvSpPr>
          <p:cNvPr id="20" name="Shape 12"/>
          <p:cNvSpPr/>
          <p:nvPr/>
        </p:nvSpPr>
        <p:spPr>
          <a:xfrm>
            <a:off x="4425696" y="4169664"/>
            <a:ext cx="3383280" cy="402336"/>
          </a:xfrm>
          <a:prstGeom prst="roundRect">
            <a:avLst>
              <a:gd name="adj" fmla="val 50000"/>
            </a:avLst>
          </a:prstGeom>
          <a:solidFill>
            <a:srgbClr val="FFFFFF">
              <a:alpha val="7000"/>
            </a:srgbClr>
          </a:solidFill>
          <a:ln w="9525">
            <a:solidFill>
              <a:srgbClr val="FFFFFF">
                <a:alpha val="20000"/>
              </a:srgbClr>
            </a:solidFill>
            <a:prstDash val="solid"/>
          </a:ln>
        </p:spPr>
      </p:sp>
      <p:pic>
        <p:nvPicPr>
          <p:cNvPr id="21" name="Image 6" descr="C:\Users\dwada\AppData\Local\Temp\opencode\assets\icons\check_lim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0" y="4270248"/>
            <a:ext cx="201168" cy="201168"/>
          </a:xfrm>
          <a:prstGeom prst="rect">
            <a:avLst/>
          </a:prstGeom>
        </p:spPr>
      </p:pic>
      <p:sp>
        <p:nvSpPr>
          <p:cNvPr id="22" name="Text 13"/>
          <p:cNvSpPr/>
          <p:nvPr/>
        </p:nvSpPr>
        <p:spPr>
          <a:xfrm>
            <a:off x="4809744" y="4169664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CFE3C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guards — you watched</a:t>
            </a:r>
            <a:endParaRPr lang="en-US" sz="1050" dirty="0"/>
          </a:p>
        </p:txBody>
      </p:sp>
      <p:sp>
        <p:nvSpPr>
          <p:cNvPr id="23" name="Shape 14"/>
          <p:cNvSpPr/>
          <p:nvPr/>
        </p:nvSpPr>
        <p:spPr>
          <a:xfrm>
            <a:off x="7955280" y="4169664"/>
            <a:ext cx="3383280" cy="402336"/>
          </a:xfrm>
          <a:prstGeom prst="roundRect">
            <a:avLst>
              <a:gd name="adj" fmla="val 50000"/>
            </a:avLst>
          </a:prstGeom>
          <a:solidFill>
            <a:srgbClr val="FFFFFF">
              <a:alpha val="7000"/>
            </a:srgbClr>
          </a:solidFill>
          <a:ln w="9525">
            <a:solidFill>
              <a:srgbClr val="FFFFFF">
                <a:alpha val="20000"/>
              </a:srgbClr>
            </a:solidFill>
            <a:prstDash val="solid"/>
          </a:ln>
        </p:spPr>
      </p:sp>
      <p:pic>
        <p:nvPicPr>
          <p:cNvPr id="24" name="Image 7" descr="C:\Users\dwada\AppData\Local\Temp\opencode\assets\icons\check_lim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01584" y="4270248"/>
            <a:ext cx="201168" cy="201168"/>
          </a:xfrm>
          <a:prstGeom prst="rect">
            <a:avLst/>
          </a:prstGeom>
        </p:spPr>
      </p:pic>
      <p:sp>
        <p:nvSpPr>
          <p:cNvPr id="25" name="Text 15"/>
          <p:cNvSpPr/>
          <p:nvPr/>
        </p:nvSpPr>
        <p:spPr>
          <a:xfrm>
            <a:off x="8339328" y="4169664"/>
            <a:ext cx="2926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CFE3C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CRUD — every letter</a:t>
            </a:r>
            <a:endParaRPr lang="en-US" sz="1050" dirty="0"/>
          </a:p>
        </p:txBody>
      </p:sp>
      <p:sp>
        <p:nvSpPr>
          <p:cNvPr id="26" name="Shape 16"/>
          <p:cNvSpPr/>
          <p:nvPr/>
        </p:nvSpPr>
        <p:spPr>
          <a:xfrm>
            <a:off x="914400" y="5852160"/>
            <a:ext cx="1042416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</p:spPr>
      </p:sp>
      <p:pic>
        <p:nvPicPr>
          <p:cNvPr id="27" name="Image 8" descr="C:\Users\dwada\AppData\Local\Temp\opencode\assets\icfai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5840" y="5980176"/>
            <a:ext cx="859536" cy="402336"/>
          </a:xfrm>
          <a:prstGeom prst="rect">
            <a:avLst/>
          </a:prstGeom>
        </p:spPr>
      </p:pic>
      <p:sp>
        <p:nvSpPr>
          <p:cNvPr id="28" name="Text 17"/>
          <p:cNvSpPr/>
          <p:nvPr/>
        </p:nvSpPr>
        <p:spPr>
          <a:xfrm>
            <a:off x="2139696" y="5760720"/>
            <a:ext cx="6766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4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Thank you — questions welcome.</a:t>
            </a:r>
            <a:endParaRPr lang="en-US" sz="1250" dirty="0"/>
          </a:p>
          <a:p>
            <a:pPr marL="0" indent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CFE3C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D. Sivasai Bhaskar Sarma · 25STUCHH010868 · Section D · CS/AI/AIM/DS202</a:t>
            </a:r>
            <a:endParaRPr lang="en-US" sz="1250" dirty="0"/>
          </a:p>
          <a:p>
            <a:pPr marL="0" indent="0">
              <a:lnSpc>
                <a:spcPct val="114000"/>
              </a:lnSpc>
              <a:buNone/>
            </a:pPr>
            <a:r>
              <a:rPr lang="en-US" sz="1000" dirty="0">
                <a:solidFill>
                  <a:srgbClr val="CFE3C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Dr. Meena Kumari Parigi · ICFAI Foundation for Higher Education</a:t>
            </a:r>
            <a:endParaRPr lang="en-US" sz="1250" dirty="0"/>
          </a:p>
        </p:txBody>
      </p:sp>
      <p:sp>
        <p:nvSpPr>
          <p:cNvPr id="29" name="Text 18"/>
          <p:cNvSpPr/>
          <p:nvPr/>
        </p:nvSpPr>
        <p:spPr>
          <a:xfrm>
            <a:off x="868680" y="6464808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dirty="0">
                <a:solidFill>
                  <a:srgbClr val="8FAE9B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SKYROUTE — DBMS mini project · MySQL 8.0</a:t>
            </a:r>
            <a:endParaRPr lang="en-US" sz="850" dirty="0"/>
          </a:p>
        </p:txBody>
      </p:sp>
      <p:sp>
        <p:nvSpPr>
          <p:cNvPr id="30" name="Text 19"/>
          <p:cNvSpPr/>
          <p:nvPr/>
        </p:nvSpPr>
        <p:spPr>
          <a:xfrm>
            <a:off x="10225735" y="6464808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9FE870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06 / 6</a:t>
            </a:r>
            <a:endParaRPr lang="en-US" sz="850" dirty="0"/>
          </a:p>
        </p:txBody>
      </p:sp>
    </p:spTree>
  </p:cSld>
  <p:clrMapOvr>
    <a:masterClrMapping/>
  </p:clrMapOvr>
  <mc:AlternateContent xmlns:mc="http://schemas.openxmlformats.org/markup-compatibility/2006">
    <mc:Choice xmlns:p15="http://schemas.microsoft.com/office/powerpoint/2015/main" Requires="p15">
      <p:transition spd="med">
        <p15:morph option="byObject"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65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85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nodeType="withEffect">
                                  <p:stCondLst>
                                    <p:cond delay="95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nodeType="withEffect">
                                  <p:stCondLst>
                                    <p:cond delay="105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grpId="0" nodeType="withEffect">
                                  <p:stCondLst>
                                    <p:cond delay="115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4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4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10" grpId="0" animBg="1"/>
      <p:bldP spid="13" grpId="0" animBg="1"/>
      <p:bldP spid="16" grpId="0" animBg="1"/>
      <p:bldP spid="19" grpId="0" animBg="1"/>
      <p:bldP spid="22" grpId="0" animBg="1"/>
      <p:bldP spid="25" grpId="0" animBg="1"/>
      <p:bldP spid="28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1267</Words>
  <Application>Microsoft Office PowerPoint</Application>
  <PresentationFormat>Widescreen</PresentationFormat>
  <Paragraphs>161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2" baseType="lpstr">
      <vt:lpstr>Segoe UI Semibold</vt:lpstr>
      <vt:lpstr>Segoe UI</vt:lpstr>
      <vt:lpstr>Segoe UI Black</vt:lpstr>
      <vt:lpstr>Consolas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SkyRoute — Airline Booking, Baggage &amp; Staff Operations (live talk)</dc:title>
  <dc:subject>DBMS Mini Project · CS/AI/AIM/DS202 · MySQL 8.0 + Flask</dc:subject>
  <dc:creator>D. Sivasai Bhaskar Sarma · 25STUCHH010868</dc:creator>
  <cp:lastModifiedBy>Dwadasi Siva Sai Bhaskar Sarma</cp:lastModifiedBy>
  <cp:revision>2</cp:revision>
  <dcterms:created xsi:type="dcterms:W3CDTF">2026-10-22T17:35:10Z</dcterms:created>
  <dcterms:modified xsi:type="dcterms:W3CDTF">2026-10-22T17:35:19Z</dcterms:modified>
</cp:coreProperties>
</file>