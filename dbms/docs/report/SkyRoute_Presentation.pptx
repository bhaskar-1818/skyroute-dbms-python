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embeddedFontLs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  <p:embeddedFont>
      <p:font typeface="Segoe UI Black" panose="020B0A02040204020203" pitchFamily="34" charset="0"/>
      <p:bold r:id="rId17"/>
      <p:boldItalic r:id="rId18"/>
    </p:embeddedFont>
    <p:embeddedFont>
      <p:font typeface="Segoe UI Semibold" panose="020B0702040204020203" pitchFamily="34" charset="0"/>
      <p:bold r:id="rId19"/>
      <p:boldItalic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6511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SkyRoute: one airline booking system, one MySQL 8.0 database behind every screen. Bookings, baggage, staff operations. I will show the front end live, book a real seat, and follow that click into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path once, slowly: the form goes to a Flask route, the route calls db.py, db.py speaks to MySQL, the booking runs through the stored procedure sp_make_booking, and it all commits in one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tables: five masters, the timetable spine — Flights to Departures to Bookings — then the weak entity Baggage, and the one-to-one Payments and Check-ins. The right rail: the five views, one per page. Relations declared once as foreign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creation is DDL, written once. The UNIQUE key, the CHECK, the cascade — all created with the table. Three guards: 1062 for the double sale, the trigger's 45000 for a full plane, and the fee view. Paste the same insert twice — the engine refuses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CRUD, each letter on a real route. Create calls the procedure — seat plus payment in one commit. Read is views. Update is typed ENUM states. Delete cascades.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rules live in the database now — six boxes, all shown live. Thank you —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8778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kern="0" spc="28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 BOOKING · BAGGAGE · STAFF OPERATIONS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896112" y="1188720"/>
            <a:ext cx="10241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2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ONE DATABASE</a:t>
            </a:r>
            <a:r>
              <a:rPr lang="en-US" sz="72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7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2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EVERY STATION</a:t>
            </a:r>
            <a:r>
              <a:rPr lang="en-US" sz="72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32688" y="371246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one MySQL 8.0 database behind every page of a working airline portal. Search, seat maps, bags, payments, staff — every rule enforced by the engine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006840" y="1481328"/>
            <a:ext cx="1828800" cy="0"/>
          </a:xfrm>
          <a:prstGeom prst="line">
            <a:avLst/>
          </a:prstGeom>
          <a:noFill/>
          <a:ln w="15875">
            <a:solidFill>
              <a:srgbClr val="9FE87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9710928" y="1280160"/>
            <a:ext cx="420624" cy="420624"/>
          </a:xfrm>
          <a:prstGeom prst="ellipse">
            <a:avLst/>
          </a:prstGeom>
          <a:solidFill>
            <a:srgbClr val="9FE870"/>
          </a:solidFill>
          <a:ln/>
        </p:spPr>
      </p:sp>
      <p:pic>
        <p:nvPicPr>
          <p:cNvPr id="7" name="Image 0" descr="C:\Users\dwada\AppData\Local\Temp\opencode\assets\icons\plane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1376172"/>
            <a:ext cx="210312" cy="210312"/>
          </a:xfrm>
          <a:prstGeom prst="rect">
            <a:avLst/>
          </a:prstGeom>
        </p:spPr>
      </p:pic>
      <p:pic>
        <p:nvPicPr>
          <p:cNvPr id="8" name="Image 1" descr="C:\Users\dwada\AppData\Local\Temp\opencode\assets\icons\planeTilt_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10369296" y="932688"/>
            <a:ext cx="420624" cy="42062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2688" y="4736592"/>
            <a:ext cx="1364285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932688" y="4736592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2434133" y="4736592"/>
            <a:ext cx="1364285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34133" y="4736592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935578" y="4736592"/>
            <a:ext cx="128381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935578" y="4736592"/>
            <a:ext cx="128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16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routes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356555" y="4736592"/>
            <a:ext cx="179588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356555" y="4736592"/>
            <a:ext cx="1795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336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departures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289597" y="4736592"/>
            <a:ext cx="1949501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289597" y="4736592"/>
            <a:ext cx="19495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34,708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bookings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914400" y="5687568"/>
            <a:ext cx="104241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20" name="Image 2" descr="C:\Users\dwada\AppData\Local\Temp\opencode\assets\icf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5815584"/>
            <a:ext cx="859536" cy="40233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139696" y="5614416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D. Sivasai Bhaskar Sarma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25STUCHH010868 · Section D · CS/AI/AIM/DS202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Faculty: Dr. Meena Kumari Parigi · Semester I · A.Y. 2026–27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229600" y="635508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FAE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to advance · stop anywhere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2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01 — HOW THE WEBSITE AND THE DATABASE ARE CONNECTED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BROWSER → FLASK → MYSQL</a:t>
            </a:r>
            <a:r>
              <a:rPr lang="en-US" sz="33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68680" y="151790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pages are HTML + CSS, rendered by Flask templates. The whole connection is one file: db.py.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6" name="Image 0" descr="C:\Users\dwada\AppData\Local\Temp\opencode\assets\icons\dashboard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" y="23957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BROWSER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0642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pages</a:t>
            </a:r>
            <a:endParaRPr lang="en-US" sz="880" dirty="0"/>
          </a:p>
        </p:txBody>
      </p:sp>
      <p:sp>
        <p:nvSpPr>
          <p:cNvPr id="9" name="Text 6"/>
          <p:cNvSpPr/>
          <p:nvPr/>
        </p:nvSpPr>
        <p:spPr>
          <a:xfrm>
            <a:off x="110642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+ CSS live in templates/ and static/ — Jinja prints the rows a view returns.</a:t>
            </a:r>
            <a:endParaRPr lang="en-US" sz="1050" dirty="0"/>
          </a:p>
        </p:txBody>
      </p:sp>
      <p:pic>
        <p:nvPicPr>
          <p:cNvPr id="10" name="Image 1" descr="C:\Users\dwada\AppData\Local\Temp\opencode\assets\icons\arrowsRight_cl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2524" y="3346704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2" name="Image 2" descr="C:\Users\dwada\AppData\Local\Temp\opencode\assets\icons\flask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584" y="23957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7258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FLASK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67258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python/flask_app</a:t>
            </a:r>
            <a:endParaRPr lang="en-US" sz="880" dirty="0"/>
          </a:p>
        </p:txBody>
      </p:sp>
      <p:sp>
        <p:nvSpPr>
          <p:cNvPr id="15" name="Text 10"/>
          <p:cNvSpPr/>
          <p:nvPr/>
        </p:nvSpPr>
        <p:spPr>
          <a:xfrm>
            <a:off x="467258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routes in app.py. db.py opens one connection per request, and closes it.</a:t>
            </a:r>
            <a:endParaRPr lang="en-US" sz="1050" dirty="0"/>
          </a:p>
        </p:txBody>
      </p:sp>
      <p:pic>
        <p:nvPicPr>
          <p:cNvPr id="16" name="Image 3" descr="C:\Users\dwada\AppData\Local\Temp\opencode\assets\icons\arrowsRight_cl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8684" y="3346704"/>
            <a:ext cx="237744" cy="2377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00100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8" name="Image 4" descr="C:\Users\dwada\AppData\Local\Temp\opencode\assets\icons\database_for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23957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3874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MYSQL 8.0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823874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skyroute_app · 127.0.0.1:3306</a:t>
            </a:r>
            <a:endParaRPr lang="en-US" sz="880" dirty="0"/>
          </a:p>
        </p:txBody>
      </p:sp>
      <p:sp>
        <p:nvSpPr>
          <p:cNvPr id="21" name="Text 14"/>
          <p:cNvSpPr/>
          <p:nvPr/>
        </p:nvSpPr>
        <p:spPr>
          <a:xfrm>
            <a:off x="823874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tables · 5 views · 1 procedure — the joins and the guards live here.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868680" y="5230368"/>
            <a:ext cx="10451592" cy="438912"/>
          </a:xfrm>
          <a:prstGeom prst="roundRect">
            <a:avLst>
              <a:gd name="adj" fmla="val 50000"/>
            </a:avLst>
          </a:prstGeom>
          <a:solidFill>
            <a:srgbClr val="9FE870"/>
          </a:solidFill>
          <a:ln/>
        </p:spPr>
      </p:sp>
      <p:sp>
        <p:nvSpPr>
          <p:cNvPr id="23" name="Text 16"/>
          <p:cNvSpPr/>
          <p:nvPr/>
        </p:nvSpPr>
        <p:spPr>
          <a:xfrm>
            <a:off x="868680" y="5230368"/>
            <a:ext cx="1045159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booking  =  the form → a Flask route → db.py → CALL sp_make_booking → one commit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25" name="Text 18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02 — ALL THE TABLES, AND HOW THEY HOLD HANDS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TIMETABLE MEETS CALENDAR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14055" y="512064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E2F6D5"/>
          </a:solidFill>
          <a:ln/>
        </p:spPr>
      </p:sp>
      <p:sp>
        <p:nvSpPr>
          <p:cNvPr id="5" name="Text 3"/>
          <p:cNvSpPr/>
          <p:nvPr/>
        </p:nvSpPr>
        <p:spPr>
          <a:xfrm>
            <a:off x="8214055" y="512064"/>
            <a:ext cx="31089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tables · 5 views · 14 foreign keys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4630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schedule row is the template; every date becomes its own departure — masters are referenced, never copied.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190195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6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MASTERS — THE ROOTS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68680" y="217627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17627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root · 5 rows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72491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fleet hold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327355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27355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AIRCRAFT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capacity lives here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82219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82219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TERMINALS · GATES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gate is one row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437083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37083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PASSENGERS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 who fly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4612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1430">
            <a:solidFill>
              <a:srgbClr val="DFE4DC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7413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FLIGHTS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7413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timetable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7413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flight_number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 ≠ arr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airline_id</a:t>
            </a:r>
            <a:endParaRPr lang="en-US" sz="800" dirty="0"/>
          </a:p>
        </p:txBody>
      </p:sp>
      <p:pic>
        <p:nvPicPr>
          <p:cNvPr id="22" name="Image 0" descr="C:\Users\dwada\AppData\Local\Temp\opencode\assets\icons\arrowsRight_cl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780" y="2788920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919472" y="244144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N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44068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1430">
            <a:solidFill>
              <a:srgbClr val="DFE4DC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56869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DEPARTURES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556869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date on the calendar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56869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scheduled_departure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aircraft_id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gate_id</a:t>
            </a:r>
            <a:endParaRPr lang="en-US" sz="800" dirty="0"/>
          </a:p>
        </p:txBody>
      </p:sp>
      <p:pic>
        <p:nvPicPr>
          <p:cNvPr id="28" name="Image 1" descr="C:\Users\dwada\AppData\Local\Temp\opencode\assets\icons\arrowsRight_cl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2788920"/>
            <a:ext cx="256032" cy="256032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114032" y="244144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N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763524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E2F6D5"/>
          </a:solidFill>
          <a:ln w="11430">
            <a:solidFill>
              <a:srgbClr val="A9D98A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776325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BOOKINGS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776325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seat · class · price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776325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booking_id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seat_number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3246120" y="37673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 — 1 hangs below: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3246120" y="4023360"/>
            <a:ext cx="1737360" cy="658368"/>
          </a:xfrm>
          <a:prstGeom prst="roundRect">
            <a:avLst>
              <a:gd name="adj" fmla="val 13889"/>
            </a:avLst>
          </a:prstGeom>
          <a:solidFill>
            <a:srgbClr val="EFF9E4"/>
          </a:solidFill>
          <a:ln w="19050">
            <a:solidFill>
              <a:srgbClr val="4C7A1E"/>
            </a:solidFill>
            <a:prstDash val="dash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3364992" y="4023360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BAGGAGE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weak · (booking_id, seq)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3246120" y="4791456"/>
            <a:ext cx="14173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364992" y="4791456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PAYMENTS</a:t>
            </a:r>
            <a:endParaRPr lang="en-US" sz="1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1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754880" y="4791456"/>
            <a:ext cx="14173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873752" y="4791456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CHECK-INS</a:t>
            </a:r>
            <a:endParaRPr lang="en-US" sz="1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1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9601200" y="190195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kern="0" spc="3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VIEWS — WHAT EACH PAGE READS</a:t>
            </a:r>
            <a:endParaRPr lang="en-US" sz="760" dirty="0"/>
          </a:p>
        </p:txBody>
      </p:sp>
      <p:sp>
        <p:nvSpPr>
          <p:cNvPr id="42" name="Shape 38"/>
          <p:cNvSpPr/>
          <p:nvPr/>
        </p:nvSpPr>
        <p:spPr>
          <a:xfrm>
            <a:off x="9710928" y="2176272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3" name="Text 39"/>
          <p:cNvSpPr/>
          <p:nvPr/>
        </p:nvSpPr>
        <p:spPr>
          <a:xfrm>
            <a:off x="9829800" y="2176272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v_departure_board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search page</a:t>
            </a:r>
            <a:endParaRPr lang="en-US" sz="860" dirty="0"/>
          </a:p>
        </p:txBody>
      </p:sp>
      <p:sp>
        <p:nvSpPr>
          <p:cNvPr id="44" name="Shape 40"/>
          <p:cNvSpPr/>
          <p:nvPr/>
        </p:nvSpPr>
        <p:spPr>
          <a:xfrm>
            <a:off x="9710928" y="2871216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5" name="Text 41"/>
          <p:cNvSpPr/>
          <p:nvPr/>
        </p:nvSpPr>
        <p:spPr>
          <a:xfrm>
            <a:off x="9829800" y="2871216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v_departure_detail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seat-map page</a:t>
            </a:r>
            <a:endParaRPr lang="en-US" sz="860" dirty="0"/>
          </a:p>
        </p:txBody>
      </p:sp>
      <p:sp>
        <p:nvSpPr>
          <p:cNvPr id="46" name="Shape 42"/>
          <p:cNvSpPr/>
          <p:nvPr/>
        </p:nvSpPr>
        <p:spPr>
          <a:xfrm>
            <a:off x="9710928" y="3566160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7" name="Text 43"/>
          <p:cNvSpPr/>
          <p:nvPr/>
        </p:nvSpPr>
        <p:spPr>
          <a:xfrm>
            <a:off x="9829800" y="3566160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v_manifest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staff manifest</a:t>
            </a:r>
            <a:endParaRPr lang="en-US" sz="860" dirty="0"/>
          </a:p>
        </p:txBody>
      </p:sp>
      <p:sp>
        <p:nvSpPr>
          <p:cNvPr id="48" name="Shape 44"/>
          <p:cNvSpPr/>
          <p:nvPr/>
        </p:nvSpPr>
        <p:spPr>
          <a:xfrm>
            <a:off x="9710928" y="4261104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9" name="Text 45"/>
          <p:cNvSpPr/>
          <p:nvPr/>
        </p:nvSpPr>
        <p:spPr>
          <a:xfrm>
            <a:off x="9829800" y="4261104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v_booking_list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bookings</a:t>
            </a:r>
            <a:endParaRPr lang="en-US" sz="860" dirty="0"/>
          </a:p>
        </p:txBody>
      </p:sp>
      <p:sp>
        <p:nvSpPr>
          <p:cNvPr id="50" name="Shape 46"/>
          <p:cNvSpPr/>
          <p:nvPr/>
        </p:nvSpPr>
        <p:spPr>
          <a:xfrm>
            <a:off x="9710928" y="4956048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51" name="Text 47"/>
          <p:cNvSpPr/>
          <p:nvPr/>
        </p:nvSpPr>
        <p:spPr>
          <a:xfrm>
            <a:off x="9829800" y="4956048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booking_receipt_view</a:t>
            </a:r>
            <a:endParaRPr lang="en-US" sz="82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ticket</a:t>
            </a:r>
            <a:endParaRPr lang="en-US" sz="820" dirty="0"/>
          </a:p>
        </p:txBody>
      </p:sp>
      <p:sp>
        <p:nvSpPr>
          <p:cNvPr id="52" name="Text 48"/>
          <p:cNvSpPr/>
          <p:nvPr/>
        </p:nvSpPr>
        <p:spPr>
          <a:xfrm>
            <a:off x="868680" y="5705856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686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join already lives in the database.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54" name="Text 50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  <p:bldP spid="7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5" grpId="0" animBg="1"/>
      <p:bldP spid="26" grpId="0" animBg="1"/>
      <p:bldP spid="27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8" grpId="0" animBg="1"/>
      <p:bldP spid="40" grpId="0" animBg="1"/>
      <p:bldP spid="41" grpId="0" animBg="1"/>
      <p:bldP spid="43" grpId="0" animBg="1"/>
      <p:bldP spid="45" grpId="0" animBg="1"/>
      <p:bldP spid="47" grpId="0" animBg="1"/>
      <p:bldP spid="49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03 — TABLE CREATION, AND THE GUARDS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WRITTEN ONCE IN SQL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Rules written once — the engine enforces them, no matter who writes.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93392"/>
            <a:ext cx="6309360" cy="3657600"/>
          </a:xfrm>
          <a:prstGeom prst="roundRect">
            <a:avLst>
              <a:gd name="adj" fmla="val 3500"/>
            </a:avLst>
          </a:prstGeom>
          <a:solidFill>
            <a:srgbClr val="0A1503"/>
          </a:solidFill>
          <a:ln w="12700">
            <a:solidFill>
              <a:srgbClr val="1E3320"/>
            </a:solidFill>
            <a:prstDash val="solid"/>
          </a:ln>
          <a:effectLst>
            <a:outerShdw blurRad="304800" dist="101600" dir="5400000" algn="bl" rotWithShape="0">
              <a:srgbClr val="0C1F00">
                <a:alpha val="3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06424" y="21305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80" dirty="0">
                <a:solidFill>
                  <a:srgbClr val="6E8E7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DBMS/SCHEMA/01-TRAVEL-CORE.SQL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6424" y="2414016"/>
            <a:ext cx="585216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Bookings (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booking_id   INT AUTO_INCREMENT PRIMARY KEY,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passenger_id INT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departure_id INT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seat_number  VARCHAR(5)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  DECIMAL(10,2) CHECK (price &gt;= 0),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9FE8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UNIQUE KEY uq_booking_seat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9FE8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(departure_id, seat_number),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(passenger_id)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REFERENCES Passengers(passenger_id)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ENGINE=InnoDB;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Baggage (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booking_id INT, baggage_seq INT,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weight_kg DECIMAL(5,2) CHECK (weight_kg &gt; 0 AND weight_kg &lt;= 100),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8E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PRIMARY KEY (booking_id, baggage_seq)  -- weak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79792" y="1993392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9" name="Image 0" descr="C:\Users\dwada\AppData\Local\Temp\opencode\assets\icons\lock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21579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10144" y="2103120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DOUBLE SALE.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010144" y="2359152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UNIQUE(departure_id, seat_number)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7662672" y="2596896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loser's INSERT dies with error 1062 — the engine refuses it.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479792" y="3236976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4" name="Image 1" descr="C:\Users\dwada\AppData\Local\Temp\opencode\assets\icons\bolt_fo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2" y="3401568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010144" y="3346704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OVERSELL FUSE.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010144" y="3602736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trg_booking_capacity</a:t>
            </a:r>
            <a:endParaRPr lang="en-US" sz="840" dirty="0"/>
          </a:p>
        </p:txBody>
      </p:sp>
      <p:sp>
        <p:nvSpPr>
          <p:cNvPr id="17" name="Text 13"/>
          <p:cNvSpPr/>
          <p:nvPr/>
        </p:nvSpPr>
        <p:spPr>
          <a:xfrm>
            <a:off x="7662672" y="3840480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Counts seats against capacity before every insert; a full plane signals SQLSTATE '45000' (error 1644).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479792" y="4480560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9" name="Image 2" descr="C:\Users\dwada\AppData\Local\Temp\opencode\assets\icons\receipt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2672" y="464515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10144" y="4590288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HAGGLED FEE.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010144" y="4846320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booking_receipt_view</a:t>
            </a:r>
            <a:endParaRPr lang="en-US" sz="840" dirty="0"/>
          </a:p>
        </p:txBody>
      </p:sp>
      <p:sp>
        <p:nvSpPr>
          <p:cNvPr id="22" name="Text 17"/>
          <p:cNvSpPr/>
          <p:nvPr/>
        </p:nvSpPr>
        <p:spPr>
          <a:xfrm>
            <a:off x="7662672" y="5084064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kg free · ₹500 per extra kg — identical on every desk.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868680" y="5852160"/>
            <a:ext cx="10451592" cy="402336"/>
          </a:xfrm>
          <a:prstGeom prst="roundRect">
            <a:avLst>
              <a:gd name="adj" fmla="val 50000"/>
            </a:avLst>
          </a:prstGeom>
          <a:solidFill>
            <a:srgbClr val="E2F6D5"/>
          </a:solidFill>
          <a:ln/>
        </p:spPr>
      </p:sp>
      <p:sp>
        <p:nvSpPr>
          <p:cNvPr id="24" name="Text 19"/>
          <p:cNvSpPr/>
          <p:nvPr/>
        </p:nvSpPr>
        <p:spPr>
          <a:xfrm>
            <a:off x="868680" y="5852160"/>
            <a:ext cx="104515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seat. One row. The second INSERT dies — that's the engine, not the app.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2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7" grpId="0" animBg="1"/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20" grpId="0" animBg="1"/>
      <p:bldP spid="21" grpId="0" animBg="1"/>
      <p:bldP spid="22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04 — BASIC CRUD ON THE REAL SITE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EVERY LETTER HAS A ROUTE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twelve tables behind all of it — no duplicated logic, the engine carries the rules.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93392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6" name="Image 0" descr="C:\Users\dwada\AppData\Local\Temp\opencode\assets\icons\bolt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21945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2139696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C · CREATE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53896" y="2432304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 a seat — /book/&lt;dep&gt;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1088136" y="2761488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16152" y="2761488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sp_make_booking(...)</a:t>
            </a:r>
            <a:endParaRPr lang="en-US" sz="920" dirty="0"/>
          </a:p>
        </p:txBody>
      </p:sp>
      <p:sp>
        <p:nvSpPr>
          <p:cNvPr id="11" name="Text 8"/>
          <p:cNvSpPr/>
          <p:nvPr/>
        </p:nvSpPr>
        <p:spPr>
          <a:xfrm>
            <a:off x="1088136" y="3163824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seat + its Pending payment, one commit; bags ride along at /baggage/&lt;bid&gt;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6208776" y="1993392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3" name="Image 1" descr="C:\Users\dwada\AppData\Local\Temp\opencode\assets\icons\search_fo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45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3992" y="2139696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R · READ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793992" y="2432304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list — search, tickets, manifest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6428232" y="2761488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56248" y="2761488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v_departure_board;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6428232" y="3163824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return whole screens; no SQL inside the browser</a:t>
            </a:r>
            <a:endParaRPr lang="en-US" sz="960" dirty="0"/>
          </a:p>
        </p:txBody>
      </p:sp>
      <p:sp>
        <p:nvSpPr>
          <p:cNvPr id="19" name="Shape 15"/>
          <p:cNvSpPr/>
          <p:nvPr/>
        </p:nvSpPr>
        <p:spPr>
          <a:xfrm>
            <a:off x="868680" y="4032504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20" name="Image 2" descr="C:\Users\dwada\AppData\Local\Temp\opencode\assets\icons\checkup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136" y="423367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453896" y="4178808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U · UPDATE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453896" y="4471416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in, pay, edit</a:t>
            </a:r>
            <a:endParaRPr lang="en-US" sz="880" dirty="0"/>
          </a:p>
        </p:txBody>
      </p:sp>
      <p:sp>
        <p:nvSpPr>
          <p:cNvPr id="23" name="Shape 18"/>
          <p:cNvSpPr/>
          <p:nvPr/>
        </p:nvSpPr>
        <p:spPr>
          <a:xfrm>
            <a:off x="1088136" y="4800600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1216152" y="4800600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Payments SET pay_status='Paid'</a:t>
            </a:r>
            <a:endParaRPr lang="en-US" sz="920" dirty="0"/>
          </a:p>
        </p:txBody>
      </p:sp>
      <p:sp>
        <p:nvSpPr>
          <p:cNvPr id="25" name="Text 20"/>
          <p:cNvSpPr/>
          <p:nvPr/>
        </p:nvSpPr>
        <p:spPr>
          <a:xfrm>
            <a:off x="1088136" y="5202936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ENUM states; check-in stamps Check_Ins, edits touch one row</a:t>
            </a:r>
            <a:endParaRPr lang="en-US" sz="960" dirty="0"/>
          </a:p>
        </p:txBody>
      </p:sp>
      <p:sp>
        <p:nvSpPr>
          <p:cNvPr id="26" name="Shape 21"/>
          <p:cNvSpPr/>
          <p:nvPr/>
        </p:nvSpPr>
        <p:spPr>
          <a:xfrm>
            <a:off x="6208776" y="4032504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27" name="Image 3" descr="C:\Users\dwada\AppData\Local\Temp\opencode\assets\icons\x_for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233672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93992" y="4178808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 · DELETE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6793992" y="4471416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 or delete — /bookings/&lt;bid&gt;/delete</a:t>
            </a:r>
            <a:endParaRPr lang="en-US" sz="880" dirty="0"/>
          </a:p>
        </p:txBody>
      </p:sp>
      <p:sp>
        <p:nvSpPr>
          <p:cNvPr id="30" name="Shape 24"/>
          <p:cNvSpPr/>
          <p:nvPr/>
        </p:nvSpPr>
        <p:spPr>
          <a:xfrm>
            <a:off x="6428232" y="4800600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556248" y="4800600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DELETE CASCADE</a:t>
            </a:r>
            <a:endParaRPr lang="en-US" sz="920" dirty="0"/>
          </a:p>
        </p:txBody>
      </p:sp>
      <p:sp>
        <p:nvSpPr>
          <p:cNvPr id="32" name="Text 26"/>
          <p:cNvSpPr/>
          <p:nvPr/>
        </p:nvSpPr>
        <p:spPr>
          <a:xfrm>
            <a:off x="6428232" y="5202936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cancel keeps history as 'Cancelled'; delete takes bags, check-in and payment with it</a:t>
            </a:r>
            <a:endParaRPr lang="en-US" sz="960" dirty="0"/>
          </a:p>
        </p:txBody>
      </p:sp>
      <p:sp>
        <p:nvSpPr>
          <p:cNvPr id="33" name="Shape 27"/>
          <p:cNvSpPr/>
          <p:nvPr/>
        </p:nvSpPr>
        <p:spPr>
          <a:xfrm>
            <a:off x="868680" y="5870448"/>
            <a:ext cx="10451592" cy="402336"/>
          </a:xfrm>
          <a:prstGeom prst="roundRect">
            <a:avLst>
              <a:gd name="adj" fmla="val 50000"/>
            </a:avLst>
          </a:prstGeom>
          <a:solidFill>
            <a:srgbClr val="9FE870"/>
          </a:solidFill>
          <a:ln/>
        </p:spPr>
      </p:sp>
      <p:sp>
        <p:nvSpPr>
          <p:cNvPr id="34" name="Text 28"/>
          <p:cNvSpPr/>
          <p:nvPr/>
        </p:nvSpPr>
        <p:spPr>
          <a:xfrm>
            <a:off x="868680" y="5870448"/>
            <a:ext cx="104515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is guarded · read is views · update is typed · delete cascades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36" name="Text 30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  <p:bldP spid="14" grpId="0" animBg="1"/>
      <p:bldP spid="15" grpId="0" animBg="1"/>
      <p:bldP spid="17" grpId="0" animBg="1"/>
      <p:bldP spid="18" grpId="0" animBg="1"/>
      <p:bldP spid="21" grpId="0" animBg="1"/>
      <p:bldP spid="22" grpId="0" animBg="1"/>
      <p:bldP spid="24" grpId="0" animBg="1"/>
      <p:bldP spid="25" grpId="0" animBg="1"/>
      <p:bldP spid="28" grpId="0" animBg="1"/>
      <p:bldP spid="29" grpId="0" animBg="1"/>
      <p:bldP spid="31" grpId="0" animBg="1"/>
      <p:bldP spid="32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8638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WRAPPING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96112" y="1078992"/>
            <a:ext cx="10241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THE RULES LIVE</a:t>
            </a:r>
            <a:endParaRPr lang="en-US" sz="5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IN THE DATABASE</a:t>
            </a:r>
            <a:endParaRPr lang="en-US" sz="5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NOW</a:t>
            </a:r>
            <a:r>
              <a:rPr lang="en-US" sz="54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006840" y="1481328"/>
            <a:ext cx="1828800" cy="0"/>
          </a:xfrm>
          <a:prstGeom prst="line">
            <a:avLst/>
          </a:prstGeom>
          <a:noFill/>
          <a:ln w="15875">
            <a:solidFill>
              <a:srgbClr val="9FE870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710928" y="1280160"/>
            <a:ext cx="420624" cy="420624"/>
          </a:xfrm>
          <a:prstGeom prst="ellipse">
            <a:avLst/>
          </a:prstGeom>
          <a:solidFill>
            <a:srgbClr val="9FE870"/>
          </a:solidFill>
          <a:ln/>
        </p:spPr>
      </p:sp>
      <p:pic>
        <p:nvPicPr>
          <p:cNvPr id="6" name="Image 0" descr="C:\Users\dwada\AppData\Local\Temp\opencode\assets\icons\plane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1376172"/>
            <a:ext cx="210312" cy="210312"/>
          </a:xfrm>
          <a:prstGeom prst="rect">
            <a:avLst/>
          </a:prstGeom>
        </p:spPr>
      </p:pic>
      <p:pic>
        <p:nvPicPr>
          <p:cNvPr id="7" name="Image 1" descr="C:\Users\dwada\AppData\Local\Temp\opencode\assets\icons\planeTilt_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10369296" y="932688"/>
            <a:ext cx="420624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96112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9" name="Image 2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3758184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front end — shown live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4425696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2" name="Image 3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758184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809744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into MySQL — live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7955280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5" name="Image 4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3758184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39328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tables · 5 views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96112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8" name="Image 5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4270248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80160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 FKs — one schema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4425696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21" name="Image 6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270248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4809744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guards — you watched</a:t>
            </a:r>
            <a:endParaRPr lang="en-US" sz="1050" dirty="0"/>
          </a:p>
        </p:txBody>
      </p:sp>
      <p:sp>
        <p:nvSpPr>
          <p:cNvPr id="23" name="Shape 14"/>
          <p:cNvSpPr/>
          <p:nvPr/>
        </p:nvSpPr>
        <p:spPr>
          <a:xfrm>
            <a:off x="7955280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24" name="Image 7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4270248"/>
            <a:ext cx="201168" cy="20116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339328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CRUD — every letter</a:t>
            </a:r>
            <a:endParaRPr lang="en-US" sz="1050" dirty="0"/>
          </a:p>
        </p:txBody>
      </p:sp>
      <p:sp>
        <p:nvSpPr>
          <p:cNvPr id="26" name="Shape 16"/>
          <p:cNvSpPr/>
          <p:nvPr/>
        </p:nvSpPr>
        <p:spPr>
          <a:xfrm>
            <a:off x="914400" y="5852160"/>
            <a:ext cx="104241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27" name="Image 8" descr="C:\Users\dwada\AppData\Local\Temp\opencode\assets\icf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980176"/>
            <a:ext cx="859536" cy="40233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2139696" y="57607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 — questions welcome.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D. Sivasai Bhaskar Sarma · 25STUCHH010868 · Section D · CS/AI/AIM/DS202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Dr. Meena Kumari Parigi · ICFAI Foundation for Higher Education</a:t>
            </a:r>
            <a:endParaRPr lang="en-US" sz="1250" dirty="0"/>
          </a:p>
        </p:txBody>
      </p:sp>
      <p:sp>
        <p:nvSpPr>
          <p:cNvPr id="29" name="Text 18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E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30" name="Text 19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5/main" Requires="p15">
      <p:transition spd="med">
        <p15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1277</Words>
  <Application>Microsoft Office PowerPoint</Application>
  <PresentationFormat>Widescreen</PresentationFormat>
  <Paragraphs>162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Segoe UI Semibold</vt:lpstr>
      <vt:lpstr>Segoe UI</vt:lpstr>
      <vt:lpstr>Segoe UI Black</vt:lpstr>
      <vt:lpstr>Consolas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SkyRoute — Airline Booking, Baggage &amp; Staff Operations (live talk)</dc:title>
  <dc:subject>DBMS Mini Project · CS/AI/AIM/DS202 · MySQL 8.0 + Flask</dc:subject>
  <dc:creator>D. Sivasai Bhaskar Sarma · 25STUCHH010868</dc:creator>
  <cp:lastModifiedBy>Dwadasi Siva Sai Bhaskar Sarma</cp:lastModifiedBy>
  <cp:revision>2</cp:revision>
  <dcterms:created xsi:type="dcterms:W3CDTF">2026-10-22T17:23:54Z</dcterms:created>
  <dcterms:modified xsi:type="dcterms:W3CDTF">2026-10-22T17:24:03Z</dcterms:modified>
</cp:coreProperties>
</file>