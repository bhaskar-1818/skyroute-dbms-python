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  <p:embeddedFont>
      <p:font typeface="Segoe UI Black" panose="020B0A02040204020203" pitchFamily="34" charset="0"/>
      <p:bold r:id="rId21"/>
      <p:boldItalic r:id="rId22"/>
    </p:embeddedFont>
    <p:embeddedFont>
      <p:font typeface="Segoe UI Semibold" panose="020B0702040204020203" pitchFamily="34" charset="0"/>
      <p:bold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50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SkyRoute: one airline booking system, one MySQL 8.0 database behind every screen. Bookings, baggage, staff operations. I will show the front end live, book a real seat, and follow that click into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put the rules where they cannot be skipped. Not a queue, not someone's memory — the schema itself. Five failures, five named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front end lives: python/flask_app. app.py holds 19 routes; templates render the screens. The whole connection is db.py — mysql-connector-python, one connection per request. Right side: the database itself — 12 tables, 5 views, one booking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[Switch to the browser] Search HYD-BLR on 2026-11-03. Log in as traveler 13, password fly123. Tap a white seat — G2 — leave the price as is, and book. The flash confirms: Booked! Seat G2 on 6E-501, booking 726.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[Terminal] Paste the SELECT: booking 726, passenger 13, seat G2 — the click from the browser. Then try the same insert again: the UNIQUE key refuses it — 1062 — and the count does not move. All-or-nothing.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tables: five masters, the timetable spine — Flights to Departures to Bookings — then the weak entity Baggage, and the one-to-one Payments and Check-ins. The right rail: the five views, one per page. No page writes its own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creation: two SQL files make the app database, two more add the showcase staff tables. In the Bookings DDL: the CHECK on price, the UNIQUE key on departure plus seat, the foreign keys with CASCADE. Baggage is the weak entity — its primary key borrows the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guards: the UNIQUE key you saw fire; the trigger that counts seats before every insert and signals SQLSTATE 45000 on a full plane; and the fee view — 20 kilos free, 500 rupees per extra kilo, the same on every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CRUD, each letter on a real route. Create calls the procedure — seat plus payment in one commit. Read is views. Update is typed ENUM states. Delete cascades — removing a booking takes its bags, check-in and payment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rules live in the database now. Twelve tables, five views, one procedure; guards you watched fire; fifty-two checks all green. Thank you —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8778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8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 BOOKING · BAGGAGE · STAFF 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96112" y="1188720"/>
            <a:ext cx="10241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2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DATABASE</a:t>
            </a:r>
            <a:r>
              <a:rPr lang="en-US" sz="72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7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2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EVERY STATION</a:t>
            </a:r>
            <a:r>
              <a:rPr lang="en-US" sz="72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32688" y="371246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one MySQL 8.0 database behind every page of a working airline portal. Search, seat maps, bags, payments, staff — every rule enforced by the engine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06840" y="1481328"/>
            <a:ext cx="1828800" cy="0"/>
          </a:xfrm>
          <a:prstGeom prst="line">
            <a:avLst/>
          </a:prstGeom>
          <a:noFill/>
          <a:ln w="15875">
            <a:solidFill>
              <a:srgbClr val="9FE8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710928" y="1280160"/>
            <a:ext cx="420624" cy="420624"/>
          </a:xfrm>
          <a:prstGeom prst="ellipse">
            <a:avLst/>
          </a:prstGeom>
          <a:solidFill>
            <a:srgbClr val="9FE870"/>
          </a:solidFill>
          <a:ln/>
        </p:spPr>
      </p:sp>
      <p:pic>
        <p:nvPicPr>
          <p:cNvPr id="7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1376172"/>
            <a:ext cx="210312" cy="210312"/>
          </a:xfrm>
          <a:prstGeom prst="rect">
            <a:avLst/>
          </a:prstGeom>
        </p:spPr>
      </p:pic>
      <p:pic>
        <p:nvPicPr>
          <p:cNvPr id="8" name="Image 1" descr="C:\Users\dwada\AppData\Local\Temp\opencode\assets\icons\planeTilt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10369296" y="93268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2688" y="4736592"/>
            <a:ext cx="1364285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736592"/>
            <a:ext cx="1364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434133" y="4736592"/>
            <a:ext cx="1364285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34133" y="4736592"/>
            <a:ext cx="1364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35578" y="4736592"/>
            <a:ext cx="128381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35578" y="4736592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56555" y="4736592"/>
            <a:ext cx="179588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56555" y="4736592"/>
            <a:ext cx="1795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336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89597" y="4736592"/>
            <a:ext cx="1949501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89597" y="4736592"/>
            <a:ext cx="1949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34,708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bookings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14400" y="5687568"/>
            <a:ext cx="104241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20" name="Image 2" descr="C:\Users\dwada\AppData\Local\Temp\opencode\assets\icf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815584"/>
            <a:ext cx="8595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39696" y="561441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D. Sivasai Bhaskar Sarma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25STUCHH010868 · Section D · CS/AI/AIM/DS202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Faculty: Dr. Meena Kumari Parigi · Semester I · A.Y. 2026–27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0" y="63550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4-minute live demo · click to advance · stop anywhere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932688"/>
            <a:ext cx="9144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1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PAPER, WHITEBOARDS,</a:t>
            </a:r>
            <a:endParaRPr lang="en-US" sz="4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1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AND A CALCULATOR</a:t>
            </a:r>
            <a:r>
              <a:rPr lang="en-US" sz="41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68680" y="2487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booking counters, five airports, one truth — and nothing that remembers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108960"/>
            <a:ext cx="3319272" cy="2377440"/>
          </a:xfrm>
          <a:prstGeom prst="roundRect">
            <a:avLst>
              <a:gd name="adj" fmla="val 692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6" name="Image 0" descr="C:\Users\dwada\AppData\Local\Temp\opencode\assets\icons\alert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3467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38221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DOUBLE SALE.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06424" y="4169664"/>
            <a:ext cx="2843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agents, two counters, seat 14C on one flight. Storage has nothing to refuse the second sale — so it writes over the first.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34840" y="3108960"/>
            <a:ext cx="3319272" cy="2377440"/>
          </a:xfrm>
          <a:prstGeom prst="roundRect">
            <a:avLst>
              <a:gd name="adj" fmla="val 692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0" name="Image 1" descr="C:\Users\dwada\AppData\Local\Temp\opencode\assets\icons\route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3467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2584" y="38221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WANDERING GATE.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72584" y="4169664"/>
            <a:ext cx="2843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changes travel on a whiteboard from terminal to terminal. A clash is discovered at the gate, by people, out loud.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8001000" y="3108960"/>
            <a:ext cx="3319272" cy="2377440"/>
          </a:xfrm>
          <a:prstGeom prst="roundRect">
            <a:avLst>
              <a:gd name="adj" fmla="val 692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4" name="Image 2" descr="C:\Users\dwada\AppData\Local\Temp\opencode\assets\icons\luggage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334670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8744" y="3822192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PERSONAL FEE.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238744" y="4169664"/>
            <a:ext cx="2843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excess-baggage charge depends on who is at the desk. Each station keeps its own passenger list and its own arithmetic.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868680" y="5870448"/>
            <a:ext cx="10451592" cy="402336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870448"/>
            <a:ext cx="104515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failure modes  →  five named database mechanisms — each closable inside the schema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02 — THE WEB TIER · WHERE THE FRONT END LIVES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BROWSER → FLASK → MYSQL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front end is a Flask app in python/flask_app. Jinja templates render every page, and one helper file is the entire database connection.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331927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6" name="Image 0" descr="C:\Users\dwada\AppData\Local\Temp\opencode\assets\icons\dashboard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494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267004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app.py + templates/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06424" y="299923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FRONT END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6424" y="3328416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routes — search, seat map, my bookings, staff console. The browser only ever shows what a view returns.</a:t>
            </a:r>
            <a:endParaRPr lang="en-US" sz="1030" dirty="0"/>
          </a:p>
        </p:txBody>
      </p:sp>
      <p:pic>
        <p:nvPicPr>
          <p:cNvPr id="10" name="Image 1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524" y="32644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34840" y="2011680"/>
            <a:ext cx="331927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2" name="Image 2" descr="C:\Users\dwada\AppData\Local\Temp\opencode\assets\icons\flas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224942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72584" y="267004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db.py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672584" y="299923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CONNECTION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672584" y="3328416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mysql-connector-python; credentials in .env. Helpers fetch_all / execute / transaction — one connection per request, opened and closed.</a:t>
            </a:r>
            <a:endParaRPr lang="en-US" sz="1030" dirty="0"/>
          </a:p>
        </p:txBody>
      </p:sp>
      <p:pic>
        <p:nvPicPr>
          <p:cNvPr id="16" name="Image 3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84" y="32644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01000" y="2011680"/>
            <a:ext cx="331927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8" name="Image 4" descr="C:\Users\dwada\AppData\Local\Temp\opencode\assets\icons\database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249424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38744" y="267004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MySQL 8.0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238744" y="299923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skyroute_app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8238744" y="3328416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tables + 5 views + sp_make_booking. The procedure books the seat and opens its payment in one commit.</a:t>
            </a:r>
            <a:endParaRPr lang="en-US" sz="1030" dirty="0"/>
          </a:p>
        </p:txBody>
      </p:sp>
      <p:sp>
        <p:nvSpPr>
          <p:cNvPr id="22" name="Shape 15"/>
          <p:cNvSpPr/>
          <p:nvPr/>
        </p:nvSpPr>
        <p:spPr>
          <a:xfrm>
            <a:off x="868680" y="5193792"/>
            <a:ext cx="10451592" cy="420624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23" name="Text 16"/>
          <p:cNvSpPr/>
          <p:nvPr/>
        </p:nvSpPr>
        <p:spPr>
          <a:xfrm>
            <a:off x="868680" y="5193792"/>
            <a:ext cx="104515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view per page — one procedure per booking. The SQL does the work; the browser just asks.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03 — LIVE ON THE RUNNING PORTAL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841687" y="512064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4" name="Text 2"/>
          <p:cNvSpPr/>
          <p:nvPr/>
        </p:nvSpPr>
        <p:spPr>
          <a:xfrm>
            <a:off x="9841687" y="512064"/>
            <a:ext cx="14813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LIVE — ONE SEAT, END TO END</a:t>
            </a:r>
            <a:r>
              <a:rPr lang="en-US" sz="3300" kern="0" spc="-3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68680" y="170078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below happens in the real Flask app running on this laptop — nothing is pre-typed.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395728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560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69848" y="34198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69848" y="373075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route: HYD-BLR · date: 2026-11-03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525012" y="2395728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6180" y="2560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726180" y="34198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 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26180" y="373075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traveler 13 · password fly123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81344" y="2395728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560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82512" y="34198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TAP A SEAT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82512" y="373075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white seat on the map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837676" y="2395728"/>
            <a:ext cx="2487168" cy="1965960"/>
          </a:xfrm>
          <a:prstGeom prst="roundRect">
            <a:avLst>
              <a:gd name="adj" fmla="val 837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8844" y="2560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038844" y="34198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38844" y="373075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seat turn grey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68680" y="4846320"/>
            <a:ext cx="5577840" cy="420624"/>
          </a:xfrm>
          <a:prstGeom prst="roundRect">
            <a:avLst>
              <a:gd name="adj" fmla="val 50000"/>
            </a:avLst>
          </a:prstGeom>
          <a:solidFill>
            <a:srgbClr val="1A2B1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46320"/>
            <a:ext cx="55778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flash: Booked! Seat G2 on 6E-501 (booking 726)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54864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grey seat is not the app being polite — it is a database row that already exists.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5056632"/>
            <a:ext cx="1828800" cy="0"/>
          </a:xfrm>
          <a:prstGeom prst="line">
            <a:avLst/>
          </a:prstGeom>
          <a:noFill/>
          <a:ln w="15875">
            <a:solidFill>
              <a:srgbClr val="9FE87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202168" y="4855464"/>
            <a:ext cx="420624" cy="420624"/>
          </a:xfrm>
          <a:prstGeom prst="ellipse">
            <a:avLst/>
          </a:prstGeom>
          <a:solidFill>
            <a:srgbClr val="9FE870"/>
          </a:solidFill>
          <a:ln/>
        </p:spPr>
      </p:sp>
      <p:pic>
        <p:nvPicPr>
          <p:cNvPr id="28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24" y="4951476"/>
            <a:ext cx="210312" cy="210312"/>
          </a:xfrm>
          <a:prstGeom prst="rect">
            <a:avLst/>
          </a:prstGeom>
        </p:spPr>
      </p:pic>
      <p:pic>
        <p:nvPicPr>
          <p:cNvPr id="29" name="Image 1" descr="C:\Users\dwada\AppData\Local\Temp\opencode\assets\icons\planeTilt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8887968" y="4553712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04 — THE PROOF, LIVE IN THE TERMINAL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CLICK, ONE ROW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newest row in skyroute_app is the seat I just booked from the browser — and the engine refuses the second sale of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29968"/>
            <a:ext cx="5623560" cy="3291840"/>
          </a:xfrm>
          <a:prstGeom prst="roundRect">
            <a:avLst>
              <a:gd name="adj" fmla="val 3889"/>
            </a:avLst>
          </a:prstGeom>
          <a:solidFill>
            <a:srgbClr val="0A1503"/>
          </a:solidFill>
          <a:ln w="12700">
            <a:solidFill>
              <a:srgbClr val="1E3320"/>
            </a:solidFill>
            <a:prstDash val="solid"/>
          </a:ln>
          <a:effectLst>
            <a:outerShdw blurRad="304800" dist="101600" dir="5400000" algn="bl" rotWithShape="0">
              <a:srgbClr val="0C1F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16712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80" dirty="0">
                <a:solidFill>
                  <a:srgbClr val="6E8E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MYSQL 8.0.46 — skyroute_app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" y="2450592"/>
            <a:ext cx="51663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 SELECT booking_id, passenger_id,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     seat_number, price,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     booking_status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FROM Bookings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ORDER BY booking_id DESC LIMIT 2;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726 |     13 | G2  | 4500 | Confirmed |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8E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725 |     30 | A1  | 3800 | Pending   |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06424" y="457200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1A2B10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← the click from the browser, seconds ago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93992" y="2029968"/>
            <a:ext cx="4529023" cy="3291840"/>
          </a:xfrm>
          <a:prstGeom prst="roundRect">
            <a:avLst>
              <a:gd name="adj" fmla="val 3889"/>
            </a:avLst>
          </a:prstGeom>
          <a:solidFill>
            <a:srgbClr val="0A1503"/>
          </a:solidFill>
          <a:ln w="12700">
            <a:solidFill>
              <a:srgbClr val="1E3320"/>
            </a:solidFill>
            <a:prstDash val="solid"/>
          </a:ln>
          <a:effectLst>
            <a:outerShdw blurRad="304800" dist="101600" dir="5400000" algn="bl" rotWithShape="0">
              <a:srgbClr val="0C1F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1736" y="2167128"/>
            <a:ext cx="40718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80" dirty="0">
                <a:solidFill>
                  <a:srgbClr val="6E8E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 SALE — REFUSED BY THE ENGINE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31736" y="2450592"/>
            <a:ext cx="4071823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 INSERT INTO Bookings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(passenger_id, departure_id,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 seat_number, travel_class, price)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VALUES (13, 7, 'G2', 'Economy', 4500);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1062 (23000): Duplicate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 '7-G2' for key 'bookings.departure_id'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31736" y="45720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2B10"/>
          </a:solidFill>
          <a:ln/>
        </p:spPr>
      </p:sp>
      <p:sp>
        <p:nvSpPr>
          <p:cNvPr id="14" name="Text 12"/>
          <p:cNvSpPr/>
          <p:nvPr/>
        </p:nvSpPr>
        <p:spPr>
          <a:xfrm>
            <a:off x="7031736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COUNT(*) before = 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55778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truth: the seat map went grey because the row went in — not because a page said so.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05 — ALL THE TABLES, AND HOW THEY HOLD HANDS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TIMETABLE MEETS CALENDAR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14055" y="512064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5" name="Text 3"/>
          <p:cNvSpPr/>
          <p:nvPr/>
        </p:nvSpPr>
        <p:spPr>
          <a:xfrm>
            <a:off x="8214055" y="512064"/>
            <a:ext cx="3108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tables · 5 views · 14 foreign keys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schedule row is the template; every date becomes its own departure — masters are referenced, never copied.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MASTERS — THE ROOTS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17627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7627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root · 5 rows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2491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fleet 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27355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7355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AIRCRAFT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capacity lives here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82219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82219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TERMINALS · GATES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gate is one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37083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37083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PASSENGERS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people who fly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1430">
            <a:solidFill>
              <a:srgbClr val="DFE4DC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7413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FLIGHTS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7413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timetable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413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flight_number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 ≠ arr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airline_id</a:t>
            </a:r>
            <a:endParaRPr lang="en-US" sz="800" dirty="0"/>
          </a:p>
        </p:txBody>
      </p:sp>
      <p:pic>
        <p:nvPicPr>
          <p:cNvPr id="22" name="Image 0" descr="C:\Users\dwada\AppData\Local\Temp\opencode\assets\icons\arrowsRight_cl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278892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19472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44068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1430">
            <a:solidFill>
              <a:srgbClr val="DFE4DC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6869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DEPARTURES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56869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date on the calendar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6869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scheduled_departure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aircraft_id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gate_id</a:t>
            </a:r>
            <a:endParaRPr lang="en-US" sz="800" dirty="0"/>
          </a:p>
        </p:txBody>
      </p:sp>
      <p:pic>
        <p:nvPicPr>
          <p:cNvPr id="28" name="Image 1" descr="C:\Users\dwada\AppData\Local\Temp\opencode\assets\icons\arrowsRight_cl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278892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14032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N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63524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E2F6D5"/>
          </a:solidFill>
          <a:ln w="11430">
            <a:solidFill>
              <a:srgbClr val="A9D98A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76325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BOOKINGS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776325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seat · class · price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76325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booking_id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seat_number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46120" y="3767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 — 1 hangs below: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3246120" y="402336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EFF9E4"/>
          </a:solidFill>
          <a:ln w="19050">
            <a:solidFill>
              <a:srgbClr val="4C7A1E"/>
            </a:solidFill>
            <a:prstDash val="dash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3364992" y="402336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weak · (booking_id, seq)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246120" y="4791456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64992" y="479145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754880" y="4791456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73752" y="479145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CHECK-INS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960120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kern="0" spc="3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VIEWS — WHAT EACH PAGE READS</a:t>
            </a:r>
            <a:endParaRPr lang="en-US" sz="760" dirty="0"/>
          </a:p>
        </p:txBody>
      </p:sp>
      <p:sp>
        <p:nvSpPr>
          <p:cNvPr id="42" name="Shape 38"/>
          <p:cNvSpPr/>
          <p:nvPr/>
        </p:nvSpPr>
        <p:spPr>
          <a:xfrm>
            <a:off x="9710928" y="2176272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EFF9E4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9829800" y="217627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v_departure_board</a:t>
            </a:r>
            <a:endParaRPr lang="en-US" sz="86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search page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9710928" y="2871216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EFF9E4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9829800" y="287121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v_departure_detail</a:t>
            </a:r>
            <a:endParaRPr lang="en-US" sz="86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seat-map page</a:t>
            </a:r>
            <a:endParaRPr lang="en-US" sz="860" dirty="0"/>
          </a:p>
        </p:txBody>
      </p:sp>
      <p:sp>
        <p:nvSpPr>
          <p:cNvPr id="46" name="Shape 42"/>
          <p:cNvSpPr/>
          <p:nvPr/>
        </p:nvSpPr>
        <p:spPr>
          <a:xfrm>
            <a:off x="9710928" y="3566160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EFF9E4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9829800" y="356616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v_manifest</a:t>
            </a:r>
            <a:endParaRPr lang="en-US" sz="86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staff manifest</a:t>
            </a:r>
            <a:endParaRPr lang="en-US" sz="860" dirty="0"/>
          </a:p>
        </p:txBody>
      </p:sp>
      <p:sp>
        <p:nvSpPr>
          <p:cNvPr id="48" name="Shape 44"/>
          <p:cNvSpPr/>
          <p:nvPr/>
        </p:nvSpPr>
        <p:spPr>
          <a:xfrm>
            <a:off x="9710928" y="4261104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EFF9E4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9829800" y="426110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86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v_booking_list</a:t>
            </a:r>
            <a:endParaRPr lang="en-US" sz="86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bookings</a:t>
            </a:r>
            <a:endParaRPr lang="en-US" sz="860" dirty="0"/>
          </a:p>
        </p:txBody>
      </p:sp>
      <p:sp>
        <p:nvSpPr>
          <p:cNvPr id="50" name="Shape 46"/>
          <p:cNvSpPr/>
          <p:nvPr/>
        </p:nvSpPr>
        <p:spPr>
          <a:xfrm>
            <a:off x="9710928" y="4956048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EFF9E4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51" name="Text 47"/>
          <p:cNvSpPr/>
          <p:nvPr/>
        </p:nvSpPr>
        <p:spPr>
          <a:xfrm>
            <a:off x="9829800" y="495604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booking_receipt_view</a:t>
            </a:r>
            <a:endParaRPr lang="en-US" sz="82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2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ticket</a:t>
            </a:r>
            <a:endParaRPr lang="en-US" sz="820" dirty="0"/>
          </a:p>
        </p:txBody>
      </p:sp>
      <p:sp>
        <p:nvSpPr>
          <p:cNvPr id="52" name="Text 48"/>
          <p:cNvSpPr/>
          <p:nvPr/>
        </p:nvSpPr>
        <p:spPr>
          <a:xfrm>
            <a:off x="868680" y="570585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 are declared once as foreign keys — every join a page needs already lives in the database.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8" grpId="0" animBg="1"/>
      <p:bldP spid="40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06 — TABLE CREATION · THE DDL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TWELVE CREATE TABLES, WRITTEN ONCE</a:t>
            </a:r>
            <a:r>
              <a:rPr lang="en-US" sz="3100" kern="0" spc="-3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68249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the engine enforces starts as SQL. The app ships the same schema; a reseed rebuilds it from scratch.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212848"/>
            <a:ext cx="6400800" cy="3566160"/>
          </a:xfrm>
          <a:prstGeom prst="roundRect">
            <a:avLst>
              <a:gd name="adj" fmla="val 3590"/>
            </a:avLst>
          </a:prstGeom>
          <a:solidFill>
            <a:srgbClr val="0A1503"/>
          </a:solidFill>
          <a:ln w="12700">
            <a:solidFill>
              <a:srgbClr val="1E3320"/>
            </a:solidFill>
            <a:prstDash val="solid"/>
          </a:ln>
          <a:effectLst>
            <a:outerShdw blurRad="304800" dist="101600" dir="5400000" algn="bl" rotWithShape="0">
              <a:srgbClr val="0C1F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3500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80" dirty="0">
                <a:solidFill>
                  <a:srgbClr val="6E8E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DBMS/SCHEMA/01-TRAVEL-CORE.SQL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" y="2633472"/>
            <a:ext cx="594360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Bookings (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booking_id   INT AUTO_INCREMENT PRIMARY KEY,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passenger_id INT NOT NULL,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departure_id INT NOT NULL,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seat_number  VARCHAR(5) NOT NULL,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DECIMAL(10,2) CHECK (price &gt;= 0),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KEY uq_booking_seat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(departure_id, seat_number),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(passenger_id)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Passengers(passenger_id)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 DELETE CASCADE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Baggage (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booking_id INT, baggage_seq INT,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weight_kg DECIMAL(5,2) CHECK (weight_kg &gt; 0 AND weight_kg &lt;= 100),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8E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(booking_id, baggage_seq)  -- weak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07808" y="2212848"/>
            <a:ext cx="37517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THE SCHEMA LIVES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71232" y="2578608"/>
            <a:ext cx="3751783" cy="676656"/>
          </a:xfrm>
          <a:prstGeom prst="roundRect">
            <a:avLst>
              <a:gd name="adj" fmla="val 2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2651760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python/flask_app/schema_mysql.sql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754112" y="2944368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12 app tables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571232" y="3364992"/>
            <a:ext cx="3751783" cy="676656"/>
          </a:xfrm>
          <a:prstGeom prst="roundRect">
            <a:avLst>
              <a:gd name="adj" fmla="val 2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3438144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python/flask_app/views_mysql.sql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754112" y="3730752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views + sp_make_booking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571232" y="4151376"/>
            <a:ext cx="3751783" cy="676656"/>
          </a:xfrm>
          <a:prstGeom prst="roundRect">
            <a:avLst>
              <a:gd name="adj" fmla="val 2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4224528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dbms/schema/01-travel-core.sql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754112" y="4517136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full travel core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571232" y="4937760"/>
            <a:ext cx="3751783" cy="676656"/>
          </a:xfrm>
          <a:prstGeom prst="roundRect">
            <a:avLst>
              <a:gd name="adj" fmla="val 2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5010912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dbms/schema/02-staff-roles.sql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754112" y="5303520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employees + 3 role tables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68680" y="5925312"/>
            <a:ext cx="10451592" cy="402336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925312"/>
            <a:ext cx="104515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app tables + 4 staff tables · 5 app views · 1 booking procedure — all from these files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07 — THE GUARDS, THEN THE RULES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ENGINE SAYS NO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rules stopped being opinions and became storage behavior — the first one fired on stage.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3319272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6" name="Image 0" descr="C:\Users\dwada\AppData\Local\Temp\opencode\assets\icons\lock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128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259689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DOUBLE SALE.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06424" y="290779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UNIQUE(departure_id, seat_number)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1106424" y="3364992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loser's INSERT dies with 1062 — you watched it two slides ago.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434840" y="1993392"/>
            <a:ext cx="3319272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1" name="Image 1" descr="C:\Users\dwada\AppData\Local\Temp\opencode\assets\icons\bolt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2128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59689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OVERSELL FUSE.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72584" y="290779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trg_booking_capacity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4672584" y="3364992"/>
            <a:ext cx="2843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every insert it counts seats against capacity; a full plane signals SQLSTATE '45000'.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4672584" y="4626864"/>
            <a:ext cx="2843784" cy="365760"/>
          </a:xfrm>
          <a:prstGeom prst="roundRect">
            <a:avLst>
              <a:gd name="adj" fmla="val 25000"/>
            </a:avLst>
          </a:prstGeom>
          <a:solidFill>
            <a:srgbClr val="5A1113"/>
          </a:solidFill>
          <a:ln/>
        </p:spPr>
      </p:sp>
      <p:sp>
        <p:nvSpPr>
          <p:cNvPr id="16" name="Text 12"/>
          <p:cNvSpPr/>
          <p:nvPr/>
        </p:nvSpPr>
        <p:spPr>
          <a:xfrm>
            <a:off x="4727448" y="4626864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1644 (45000): Booking refused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8001000" y="1993392"/>
            <a:ext cx="3319272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8" name="Image 2" descr="C:\Users\dwada\AppData\Local\Temp\opencode\assets\icons\receipt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221284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259689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HAGGLED FEE.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38744" y="2907792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booking_receipt_view</a:t>
            </a:r>
            <a:endParaRPr lang="en-US" sz="960" dirty="0"/>
          </a:p>
        </p:txBody>
      </p:sp>
      <p:sp>
        <p:nvSpPr>
          <p:cNvPr id="21" name="Text 16"/>
          <p:cNvSpPr/>
          <p:nvPr/>
        </p:nvSpPr>
        <p:spPr>
          <a:xfrm>
            <a:off x="8238744" y="3364992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baggage_fee_rs = SUM(GREATEST(kg-20,0))*500 — 20 kg free, ₹500 per extra kg, identical on every desk.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868680" y="5486400"/>
            <a:ext cx="10451592" cy="402336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486400"/>
            <a:ext cx="104515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refusal left the row counts untouched — the rejections are features, cleanly named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6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08 — BASIC CRUD ON THE REAL SITE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EVERY LETTER HAS A ROUTE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twelve tables behind all of it — no duplicated logic, the engine carries the rules.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5111496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6" name="Image 0" descr="C:\Users\dwada\AppData\Local\Temp\opencode\assets\icons\bolt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139696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 · CREATE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53896" y="243230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C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a seat — /book/&lt;dep&gt;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1088136" y="2761488"/>
            <a:ext cx="4654296" cy="329184"/>
          </a:xfrm>
          <a:prstGeom prst="roundRect">
            <a:avLst>
              <a:gd name="adj" fmla="val 22222"/>
            </a:avLst>
          </a:prstGeom>
          <a:solidFill>
            <a:srgbClr val="EFF9E4"/>
          </a:solidFill>
          <a:ln w="7620">
            <a:solidFill>
              <a:srgbClr val="C9E5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276148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sp_make_booking(...)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088136" y="3163824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seat + its Pending payment, one commit; bags ride along at /baggage/&lt;bid&gt;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208776" y="1993392"/>
            <a:ext cx="5111496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3" name="Image 1" descr="C:\Users\dwada\AppData\Local\Temp\opencode\assets\icons\search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93992" y="2139696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 · READ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93992" y="243230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C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list — search, tickets, manifest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428232" y="2761488"/>
            <a:ext cx="4654296" cy="329184"/>
          </a:xfrm>
          <a:prstGeom prst="roundRect">
            <a:avLst>
              <a:gd name="adj" fmla="val 22222"/>
            </a:avLst>
          </a:prstGeom>
          <a:solidFill>
            <a:srgbClr val="EFF9E4"/>
          </a:solidFill>
          <a:ln w="7620">
            <a:solidFill>
              <a:srgbClr val="C9E5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56248" y="276148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v_departure_board;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6428232" y="3163824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return whole screens; no SQL inside the browser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868680" y="4032504"/>
            <a:ext cx="5111496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0" name="Image 2" descr="C:\Users\dwada\AppData\Local\Temp\opencode\assets\icons\checkup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23367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53896" y="4178808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U · UPDATE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53896" y="4471416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C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in, pay, edit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1088136" y="4800600"/>
            <a:ext cx="4654296" cy="329184"/>
          </a:xfrm>
          <a:prstGeom prst="roundRect">
            <a:avLst>
              <a:gd name="adj" fmla="val 22222"/>
            </a:avLst>
          </a:prstGeom>
          <a:solidFill>
            <a:srgbClr val="EFF9E4"/>
          </a:solidFill>
          <a:ln w="7620">
            <a:solidFill>
              <a:srgbClr val="C9E5B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216152" y="4800600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Payments SET pay_status='Paid'</a:t>
            </a:r>
            <a:endParaRPr lang="en-US" sz="920" dirty="0"/>
          </a:p>
        </p:txBody>
      </p:sp>
      <p:sp>
        <p:nvSpPr>
          <p:cNvPr id="25" name="Text 20"/>
          <p:cNvSpPr/>
          <p:nvPr/>
        </p:nvSpPr>
        <p:spPr>
          <a:xfrm>
            <a:off x="1088136" y="5202936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ENUM states; check-in stamps Check_Ins, edits touch one row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6208776" y="4032504"/>
            <a:ext cx="5111496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7" name="Image 3" descr="C:\Users\dwada\AppData\Local\Temp\opencode\assets\icons\x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23367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93992" y="4178808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 · DELETE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793992" y="4471416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C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 or delete — /bookings/&lt;bid&gt;/delete</a:t>
            </a:r>
            <a:endParaRPr lang="en-US" sz="880" dirty="0"/>
          </a:p>
        </p:txBody>
      </p:sp>
      <p:sp>
        <p:nvSpPr>
          <p:cNvPr id="30" name="Shape 24"/>
          <p:cNvSpPr/>
          <p:nvPr/>
        </p:nvSpPr>
        <p:spPr>
          <a:xfrm>
            <a:off x="6428232" y="4800600"/>
            <a:ext cx="4654296" cy="329184"/>
          </a:xfrm>
          <a:prstGeom prst="roundRect">
            <a:avLst>
              <a:gd name="adj" fmla="val 22222"/>
            </a:avLst>
          </a:prstGeom>
          <a:solidFill>
            <a:srgbClr val="EFF9E4"/>
          </a:solidFill>
          <a:ln w="7620">
            <a:solidFill>
              <a:srgbClr val="C9E5B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56248" y="4800600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endParaRPr lang="en-US" sz="920" dirty="0"/>
          </a:p>
        </p:txBody>
      </p:sp>
      <p:sp>
        <p:nvSpPr>
          <p:cNvPr id="32" name="Text 26"/>
          <p:cNvSpPr/>
          <p:nvPr/>
        </p:nvSpPr>
        <p:spPr>
          <a:xfrm>
            <a:off x="6428232" y="5202936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keeps history as 'Cancelled'; delete takes bags, check-in and payment with it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868680" y="5870448"/>
            <a:ext cx="10451592" cy="402336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34" name="Text 28"/>
          <p:cNvSpPr/>
          <p:nvPr/>
        </p:nvSpPr>
        <p:spPr>
          <a:xfrm>
            <a:off x="868680" y="5870448"/>
            <a:ext cx="104515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Create is guarded · read is views · update is typed · delete cascades — every letter enforced twice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0" grpId="0" animBg="1"/>
      <p:bldP spid="11" grpId="0" animBg="1"/>
      <p:bldP spid="14" grpId="0" animBg="1"/>
      <p:bldP spid="15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8" grpId="0" animBg="1"/>
      <p:bldP spid="29" grpId="0" animBg="1"/>
      <p:bldP spid="31" grpId="0" animBg="1"/>
      <p:bldP spid="32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WRAPPING 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96112" y="1078992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RULES LIVE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IN THE DATABASE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NOW</a:t>
            </a:r>
            <a:r>
              <a:rPr lang="en-US" sz="60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32688" y="42245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failure closed by a named mechanism; every mechanism closed by a test with a stated expectation. That was the brief — it still 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006840" y="1481328"/>
            <a:ext cx="1828800" cy="0"/>
          </a:xfrm>
          <a:prstGeom prst="line">
            <a:avLst/>
          </a:prstGeom>
          <a:noFill/>
          <a:ln w="15875">
            <a:solidFill>
              <a:srgbClr val="9FE8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710928" y="1280160"/>
            <a:ext cx="420624" cy="420624"/>
          </a:xfrm>
          <a:prstGeom prst="ellipse">
            <a:avLst/>
          </a:prstGeom>
          <a:solidFill>
            <a:srgbClr val="9FE870"/>
          </a:solidFill>
          <a:ln/>
        </p:spPr>
      </p:sp>
      <p:pic>
        <p:nvPicPr>
          <p:cNvPr id="7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1376172"/>
            <a:ext cx="210312" cy="210312"/>
          </a:xfrm>
          <a:prstGeom prst="rect">
            <a:avLst/>
          </a:prstGeom>
        </p:spPr>
      </p:pic>
      <p:pic>
        <p:nvPicPr>
          <p:cNvPr id="8" name="Image 1" descr="C:\Users\dwada\AppData\Local\Temp\opencode\assets\icons\planeTilt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10369296" y="93268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2688" y="5138928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5138928"/>
            <a:ext cx="3520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tables + 5 views + 1 procedure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17720" y="5138928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17720" y="5138928"/>
            <a:ext cx="3063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guards you watched fire live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45552" y="513892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45552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+ 28 checks, all green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14400" y="5852160"/>
            <a:ext cx="104241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16" name="Image 2" descr="C:\Users\dwada\AppData\Local\Temp\opencode\assets\icf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980176"/>
            <a:ext cx="8595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39696" y="5760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 — questions welcome.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D. Sivasai Bhaskar Sarma · 25STUCHH010868 · Section D · CS/AI/AIM/DS202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Dr. Meena Kumari Parigi · ICFAI Foundation for Higher Education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2" grpId="0" animBg="1"/>
      <p:bldP spid="14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2178</Words>
  <Application>Microsoft Office PowerPoint</Application>
  <PresentationFormat>Widescreen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Segoe UI Semibold</vt:lpstr>
      <vt:lpstr>Arial</vt:lpstr>
      <vt:lpstr>Segoe UI</vt:lpstr>
      <vt:lpstr>Consolas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SkyRoute — Airline Booking, Baggage &amp; Staff Operations (live talk)</dc:title>
  <dc:subject>DBMS Mini Project · CS/AI/AIM/DS202 · MySQL 8.0 + Flask</dc:subject>
  <dc:creator>D. Sivasai Bhaskar Sarma · 25STUCHH010868</dc:creator>
  <cp:lastModifiedBy>Dwadasi Siva Sai Bhaskar Sarma</cp:lastModifiedBy>
  <cp:revision>2</cp:revision>
  <dcterms:created xsi:type="dcterms:W3CDTF">2026-10-22T14:29:28Z</dcterms:created>
  <dcterms:modified xsi:type="dcterms:W3CDTF">2026-10-22T14:29:41Z</dcterms:modified>
</cp:coreProperties>
</file>