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Segoe UI" panose="020B0502040204020203" pitchFamily="34" charset="0"/>
      <p:regular r:id="rId24"/>
      <p:bold r:id="rId25"/>
      <p:italic r:id="rId26"/>
      <p:boldItalic r:id="rId27"/>
    </p:embeddedFont>
    <p:embeddedFont>
      <p:font typeface="Segoe UI Black" panose="020B0A02040204020203" pitchFamily="34" charset="0"/>
      <p:bold r:id="rId28"/>
      <p:boldItalic r:id="rId29"/>
    </p:embeddedFont>
    <p:embeddedFont>
      <p:font typeface="Segoe UI Semibold" panose="020B0702040204020203" pitchFamily="34" charset="0"/>
      <p:bold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24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SkyRoute — one airline database for bookings, bags and staff operations. MySQL 8.0, sixteen tables, thirty-four thousand seeded bookings. The reel plays click by click; stop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SkyRoute: two counters kept separate lists. Seat charts on paper, gates on a whiteboard, baggage fees by hand. Five ways to sell the same seat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failures, five mechanisms. Each failure gets a named closure inside the schema — a key, a view, one database, a trigger. Nothing depends on goodwill.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Sixteen entities on the Chen diagram. The timetable row is a template; each date becomes its own departure. Baggage hangs off bookings as a weak entity — numbered per booking.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Sixteen tables, nineteen foreign keys. The booking key kills the double sale, a gate is one row, bags vanish with bookings, no flight flies home to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at volume: thirty-four thousand bookings, forty-three thousand bags, four thousand passengers, three hundred thirty-six departures. Zero duplicate seats.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 one: a unique key on departure plus seat. Two writers racing for one seat — the storage engine refuses the loser by name: uq_booking_seat. Nothing half-written.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 two: a before-insert trigger counts seats sold against aircraft capacity and signals SQLSTATE 45000. The shell, the procedure, the web app — one refusal for every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rule is a view, not a person: twenty kilos free, five hundred rupees per extra kilo. That live ticket shows 31.89 kg — a 5,945 rupee fee, computed in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Desk questions: the board is one view, the busiest route one GROUP BY, load factor one HAVING clause, big spenders one correlated subquery. One query, one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Atomicity on stage: MakeBooking writes the booking and opens a pending payment in one transaction. An exit handler rolls back on any error — a taken seat leaves nothing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ACID with witnesses: commit keeps both rows; a failed rollback leaves the seat free; a lock held nine seconds makes isolation visible to a second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Indexes measured, not guessed: the status query reads 5,449 rows through its index and 33,904 without it. Same answer either way — a sixth of the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database users: admin gets all, staff reads and writes operations, the viewer only reads. The viewer's INSERT is denied live against the grant tables — spelled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design, web tier: Flask reads through views and books through the procedure — the staff manifest, the traveler ticket, the route search. Storage rules travel with every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Twenty-four database checks in eight groups plus twenty-eight app checks, each stating its expectation first. The refusals are the feature: 1062, 1644, 1451, 45000 — all 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Enforced in MySQL, reused by a Flask portal, measured at thirty-four thousand rows. That is SkyRoute. One database, every station. End of reel.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9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8778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28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AIRLINE BOOKING · BAGGAGE · STAFF OPERATIONS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96112" y="1188720"/>
            <a:ext cx="10241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200" kern="0" spc="-6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ONE DATABASE</a:t>
            </a:r>
            <a:r>
              <a:rPr lang="en-US" sz="7200" kern="0" spc="-6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7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200" kern="0" spc="-6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EVERY STATION</a:t>
            </a:r>
            <a:r>
              <a:rPr lang="en-US" sz="7200" kern="0" spc="-6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32688" y="371246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one MySQL 8.0 database for every counter at every airport. Sixteen tables, 34,708 seeded bookings — every rule enforced by the engine itself.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006840" y="1481328"/>
            <a:ext cx="1828800" cy="0"/>
          </a:xfrm>
          <a:prstGeom prst="line">
            <a:avLst/>
          </a:prstGeom>
          <a:noFill/>
          <a:ln w="15875">
            <a:solidFill>
              <a:srgbClr val="9FE8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710928" y="1280160"/>
            <a:ext cx="420624" cy="420624"/>
          </a:xfrm>
          <a:prstGeom prst="ellipse">
            <a:avLst/>
          </a:prstGeom>
          <a:solidFill>
            <a:srgbClr val="9FE870"/>
          </a:solidFill>
          <a:ln/>
        </p:spPr>
      </p:sp>
      <p:pic>
        <p:nvPicPr>
          <p:cNvPr id="7" name="Image 0" descr="C:\Users\dwada\AppData\Local\Temp\opencode\assets\icons\plane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084" y="1376172"/>
            <a:ext cx="210312" cy="210312"/>
          </a:xfrm>
          <a:prstGeom prst="rect">
            <a:avLst/>
          </a:prstGeom>
        </p:spPr>
      </p:pic>
      <p:pic>
        <p:nvPicPr>
          <p:cNvPr id="8" name="Image 1" descr="C:\Users\dwada\AppData\Local\Temp\opencode\assets\icons\planeTilt_l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10369296" y="932688"/>
            <a:ext cx="420624" cy="4206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2688" y="4736592"/>
            <a:ext cx="1364285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32688" y="4736592"/>
            <a:ext cx="13642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</a:t>
            </a:r>
            <a:r>
              <a:rPr lang="en-US" sz="11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airports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434133" y="4736592"/>
            <a:ext cx="1364285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34133" y="4736592"/>
            <a:ext cx="13642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</a:t>
            </a:r>
            <a:r>
              <a:rPr lang="en-US" sz="11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airlines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935578" y="4736592"/>
            <a:ext cx="128381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935578" y="4736592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 </a:t>
            </a:r>
            <a:r>
              <a:rPr lang="en-US" sz="11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routes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356555" y="4736592"/>
            <a:ext cx="179588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56555" y="4736592"/>
            <a:ext cx="1795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336 </a:t>
            </a:r>
            <a:r>
              <a:rPr lang="en-US" sz="11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departures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289597" y="4736592"/>
            <a:ext cx="1949501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289597" y="4736592"/>
            <a:ext cx="19495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34,708 </a:t>
            </a:r>
            <a:r>
              <a:rPr lang="en-US" sz="11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bookings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914400" y="5687568"/>
            <a:ext cx="104241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pic>
        <p:nvPicPr>
          <p:cNvPr id="20" name="Image 2" descr="C:\Users\dwada\AppData\Local\Temp\opencode\assets\icf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815584"/>
            <a:ext cx="8595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39696" y="5614416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D. Sivasai Bhaskar Sarma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25STUCHH010868 · Section D · CS/AI/AIM/DS202</a:t>
            </a:r>
            <a:endParaRPr lang="en-US" sz="12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Faculty: Dr. Meena Kumari Parigi · Semester I · A.Y. 2026–27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321040" y="635508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8FAE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2-minute reel · click to advance · stop anywhere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2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02 —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932688"/>
            <a:ext cx="91440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100" kern="0" spc="-4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PAPER, WHITEBOARDS,</a:t>
            </a:r>
            <a:endParaRPr lang="en-US" sz="41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4100" kern="0" spc="-4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AND A CALCULATOR</a:t>
            </a:r>
            <a:r>
              <a:rPr lang="en-US" sz="4100" kern="0" spc="-4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868680" y="2487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booking counters, five airports, one truth — and nothing that remembers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3108960"/>
            <a:ext cx="3319272" cy="237744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6" name="Image 0" descr="C:\Users\dwada\AppData\Local\Temp\opencode\assets\icons\alert_l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895" y="350617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4041648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-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DOUBLE SALE.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4389120"/>
            <a:ext cx="2770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agents, two counters, seat 14C on one flight. Storage has nothing to refuse the second sale — so it writes over the first.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3108960"/>
            <a:ext cx="3319272" cy="237744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10" name="Image 1" descr="C:\Users\dwada\AppData\Local\Temp\opencode\assets\icons\route_l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055" y="3506175"/>
            <a:ext cx="266273" cy="266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4041648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-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WANDERING GATE.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09160" y="4389120"/>
            <a:ext cx="2770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changes travel on a whiteboard from terminal to terminal. A clash is discovered at the gate, by people, out loud.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01000" y="3108960"/>
            <a:ext cx="3319272" cy="237744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14" name="Image 2" descr="C:\Users\dwada\AppData\Local\Temp\opencode\assets\icons\luggage_li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8215" y="3506175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5320" y="4041648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-2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PERSONAL FEE.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75320" y="4389120"/>
            <a:ext cx="2770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excess-baggage charge depends on who is at the desk. Each station keeps its own passenger list and its own arithmetic.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68680" y="5870448"/>
            <a:ext cx="10451592" cy="402336"/>
          </a:xfrm>
          <a:prstGeom prst="roundRect">
            <a:avLst>
              <a:gd name="adj" fmla="val 50000"/>
            </a:avLst>
          </a:prstGeom>
          <a:solidFill>
            <a:srgbClr val="9FE870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870448"/>
            <a:ext cx="104515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failure modes  →  five named database mechanisms — each closable inside the schema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E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5/main" Requires="p15">
      <p:transition spd="med">
        <p15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03 — FIVE FAILURES, FIVE MECHANISMS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EVERY FAILURE HAS A KEY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fix never lives in a queue or someone's memory — it compiles into a key, a view, or a trigger.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1938528"/>
            <a:ext cx="4315968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pic>
        <p:nvPicPr>
          <p:cNvPr id="6" name="Image 0" descr="C:\Users\dwada\AppData\Local\Temp\opencode\assets\icons\alert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1122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93852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F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agents, one seat</a:t>
            </a:r>
            <a:endParaRPr lang="en-US" sz="1250" dirty="0"/>
          </a:p>
        </p:txBody>
      </p:sp>
      <p:pic>
        <p:nvPicPr>
          <p:cNvPr id="8" name="Image 1" descr="C:\Users\dwada\AppData\Local\Temp\opencode\assets\icons\arrowsRight_cl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12140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769864" y="1938528"/>
            <a:ext cx="5553151" cy="603504"/>
          </a:xfrm>
          <a:prstGeom prst="roundRect">
            <a:avLst>
              <a:gd name="adj" fmla="val 19697"/>
            </a:avLst>
          </a:prstGeom>
          <a:solidFill>
            <a:srgbClr val="E2F6D5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52744" y="1938528"/>
            <a:ext cx="52239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UNIQUE(departure_id, seat_number)</a:t>
            </a:r>
            <a:r>
              <a:rPr lang="en-US" sz="100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—  the storage engine refuses the loser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68680" y="2660904"/>
            <a:ext cx="4315968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pic>
        <p:nvPicPr>
          <p:cNvPr id="12" name="Image 2" descr="C:\Users\dwada\AppData\Local\Temp\opencode\assets\icons\alert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83464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35608" y="266090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F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gate, two flights</a:t>
            </a:r>
            <a:endParaRPr lang="en-US" sz="1250" dirty="0"/>
          </a:p>
        </p:txBody>
      </p:sp>
      <p:pic>
        <p:nvPicPr>
          <p:cNvPr id="14" name="Image 3" descr="C:\Users\dwada\AppData\Local\Temp\opencode\assets\icons\arrowsRight_cl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843784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769864" y="2660904"/>
            <a:ext cx="5553151" cy="603504"/>
          </a:xfrm>
          <a:prstGeom prst="roundRect">
            <a:avLst>
              <a:gd name="adj" fmla="val 19697"/>
            </a:avLst>
          </a:prstGeom>
          <a:solidFill>
            <a:srgbClr val="E2F6D5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952744" y="2660904"/>
            <a:ext cx="52239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UNIQUE(terminal_id, gate_number)</a:t>
            </a:r>
            <a:r>
              <a:rPr lang="en-US" sz="100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—  a physical gate is exactly one row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868680" y="3383280"/>
            <a:ext cx="4315968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pic>
        <p:nvPicPr>
          <p:cNvPr id="18" name="Image 4" descr="C:\Users\dwada\AppData\Local\Temp\opencode\assets\icons\alert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55701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35608" y="338328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F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haggled fee</a:t>
            </a:r>
            <a:endParaRPr lang="en-US" sz="1250" dirty="0"/>
          </a:p>
        </p:txBody>
      </p:sp>
      <p:pic>
        <p:nvPicPr>
          <p:cNvPr id="20" name="Image 5" descr="C:\Users\dwada\AppData\Local\Temp\opencode\assets\icons\arrowsRight_cl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566160"/>
            <a:ext cx="237744" cy="23774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769864" y="3383280"/>
            <a:ext cx="5553151" cy="603504"/>
          </a:xfrm>
          <a:prstGeom prst="roundRect">
            <a:avLst>
              <a:gd name="adj" fmla="val 19697"/>
            </a:avLst>
          </a:prstGeom>
          <a:solidFill>
            <a:srgbClr val="E2F6D5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5952744" y="3383280"/>
            <a:ext cx="52239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booking_receipt_view</a:t>
            </a:r>
            <a:r>
              <a:rPr lang="en-US" sz="100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—  20 kg free · Rs 500 per excess kg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868680" y="4105656"/>
            <a:ext cx="4315968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pic>
        <p:nvPicPr>
          <p:cNvPr id="24" name="Image 6" descr="C:\Users\dwada\AppData\Local\Temp\opencode\assets\icons\alert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279392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435608" y="410565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F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Station lists disagree</a:t>
            </a:r>
            <a:endParaRPr lang="en-US" sz="1250" dirty="0"/>
          </a:p>
        </p:txBody>
      </p:sp>
      <p:pic>
        <p:nvPicPr>
          <p:cNvPr id="26" name="Image 7" descr="C:\Users\dwada\AppData\Local\Temp\opencode\assets\icons\arrowsRight_cl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4288536"/>
            <a:ext cx="237744" cy="237744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5769864" y="4105656"/>
            <a:ext cx="5553151" cy="603504"/>
          </a:xfrm>
          <a:prstGeom prst="roundRect">
            <a:avLst>
              <a:gd name="adj" fmla="val 19697"/>
            </a:avLst>
          </a:prstGeom>
          <a:solidFill>
            <a:srgbClr val="E2F6D5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5952744" y="4105656"/>
            <a:ext cx="52239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skyroute_db, five airports</a:t>
            </a:r>
            <a:r>
              <a:rPr lang="en-US" sz="100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—  Airports is the root table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868680" y="4828032"/>
            <a:ext cx="4315968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pic>
        <p:nvPicPr>
          <p:cNvPr id="30" name="Image 8" descr="C:\Users\dwada\AppData\Local\Temp\opencode\assets\icons\alert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001768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435608" y="482803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F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Oversold flights</a:t>
            </a:r>
            <a:endParaRPr lang="en-US" sz="1250" dirty="0"/>
          </a:p>
        </p:txBody>
      </p:sp>
      <p:pic>
        <p:nvPicPr>
          <p:cNvPr id="32" name="Image 9" descr="C:\Users\dwada\AppData\Local\Temp\opencode\assets\icons\arrowsRight_cl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5010912"/>
            <a:ext cx="237744" cy="237744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769864" y="4828032"/>
            <a:ext cx="5553151" cy="603504"/>
          </a:xfrm>
          <a:prstGeom prst="roundRect">
            <a:avLst>
              <a:gd name="adj" fmla="val 19697"/>
            </a:avLst>
          </a:prstGeom>
          <a:solidFill>
            <a:srgbClr val="E2F6D5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34" name="Text 22"/>
          <p:cNvSpPr/>
          <p:nvPr/>
        </p:nvSpPr>
        <p:spPr>
          <a:xfrm>
            <a:off x="5952744" y="4828032"/>
            <a:ext cx="52239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trg_booking_capacity</a:t>
            </a:r>
            <a:r>
              <a:rPr lang="en-US" sz="100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—  seat count vs capacity, every insert</a:t>
            </a:r>
            <a:endParaRPr lang="en-US" sz="1150" dirty="0"/>
          </a:p>
        </p:txBody>
      </p:sp>
      <p:sp>
        <p:nvSpPr>
          <p:cNvPr id="35" name="Text 23"/>
          <p:cNvSpPr/>
          <p:nvPr/>
        </p:nvSpPr>
        <p:spPr>
          <a:xfrm>
            <a:off x="868680" y="55778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686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refusal left the row counts untouched — the rejections are features, cleanly named.</a:t>
            </a:r>
            <a:endParaRPr lang="en-US" sz="1050" dirty="0"/>
          </a:p>
        </p:txBody>
      </p:sp>
      <p:sp>
        <p:nvSpPr>
          <p:cNvPr id="36" name="Text 24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37" name="Text 25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10" grpId="0" animBg="1"/>
      <p:bldP spid="13" grpId="0" animBg="1"/>
      <p:bldP spid="16" grpId="0" animBg="1"/>
      <p:bldP spid="19" grpId="0" animBg="1"/>
      <p:bldP spid="22" grpId="0" animBg="1"/>
      <p:bldP spid="25" grpId="0" animBg="1"/>
      <p:bldP spid="28" grpId="0" animBg="1"/>
      <p:bldP spid="31" grpId="0" animBg="1"/>
      <p:bldP spid="3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05 — THE ENTITY-RELATIONSHIP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TIMETABLE MEETS CALENDAR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schedule row owns every dated departure the calendar needs — masters are referenced, never copied.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579815" y="530352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2F6D5"/>
          </a:solidFill>
          <a:ln/>
        </p:spPr>
      </p:sp>
      <p:sp>
        <p:nvSpPr>
          <p:cNvPr id="6" name="Text 4"/>
          <p:cNvSpPr/>
          <p:nvPr/>
        </p:nvSpPr>
        <p:spPr>
          <a:xfrm>
            <a:off x="8579815" y="530352"/>
            <a:ext cx="2743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 entities · 19 foreign keys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9019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6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MASTERS — THE ROOTS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217627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176272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AIRPORTS</a:t>
            </a:r>
            <a:endParaRPr lang="en-US" sz="1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root · 5 rows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72491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724912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AIRLINES</a:t>
            </a:r>
            <a:endParaRPr lang="en-US" sz="1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· fleet hold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27355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273552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AIRCRAFT</a:t>
            </a:r>
            <a:endParaRPr lang="en-US" sz="1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capacity lives here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82219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822192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TERMINALS · GATES</a:t>
            </a:r>
            <a:endParaRPr lang="en-US" sz="1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gate is one row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176272"/>
            <a:ext cx="178308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1430">
            <a:solidFill>
              <a:srgbClr val="DFE4DC"/>
            </a:solidFill>
            <a:prstDash val="solid"/>
          </a:ln>
          <a:effectLst>
            <a:outerShdw blurRad="203200" dist="63500" dir="5400000" algn="bl" rotWithShape="0">
              <a:srgbClr val="1633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74136" y="229514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kern="0" spc="2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FLIGHTS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74136" y="2587752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timetable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74136" y="2871216"/>
            <a:ext cx="1527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flight_number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 ≠ arr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airline_id</a:t>
            </a:r>
            <a:endParaRPr lang="en-US" sz="800" dirty="0"/>
          </a:p>
        </p:txBody>
      </p:sp>
      <p:pic>
        <p:nvPicPr>
          <p:cNvPr id="20" name="Image 0" descr="C:\Users\dwada\AppData\Local\Temp\opencode\assets\icons\arrowsRight_cl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2788920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919472" y="2441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— N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440680" y="2176272"/>
            <a:ext cx="178308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1430">
            <a:solidFill>
              <a:srgbClr val="DFE4DC"/>
            </a:solidFill>
            <a:prstDash val="solid"/>
          </a:ln>
          <a:effectLst>
            <a:outerShdw blurRad="203200" dist="63500" dir="5400000" algn="bl" rotWithShape="0">
              <a:srgbClr val="1633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568696" y="229514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kern="0" spc="2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DEPARTURES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568696" y="2587752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date on the calendar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568696" y="2871216"/>
            <a:ext cx="1527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scheduled_departure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aircraft_id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F7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gate_id</a:t>
            </a:r>
            <a:endParaRPr lang="en-US" sz="800" dirty="0"/>
          </a:p>
        </p:txBody>
      </p:sp>
      <p:pic>
        <p:nvPicPr>
          <p:cNvPr id="26" name="Image 1" descr="C:\Users\dwada\AppData\Local\Temp\opencode\assets\icons\arrowsRight_cl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340" y="2788920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114032" y="24414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— N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7635240" y="2176272"/>
            <a:ext cx="1783080" cy="1481328"/>
          </a:xfrm>
          <a:prstGeom prst="roundRect">
            <a:avLst>
              <a:gd name="adj" fmla="val 8642"/>
            </a:avLst>
          </a:prstGeom>
          <a:solidFill>
            <a:srgbClr val="E2F6D5"/>
          </a:solidFill>
          <a:ln w="11430">
            <a:solidFill>
              <a:srgbClr val="A9D98A"/>
            </a:solidFill>
            <a:prstDash val="solid"/>
          </a:ln>
          <a:effectLst>
            <a:outerShdw blurRad="203200" dist="63500" dir="5400000" algn="bl" rotWithShape="0">
              <a:srgbClr val="163300">
                <a:alpha val="12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7763256" y="229514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kern="0" spc="2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BOOKINGS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7763256" y="2587752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seat · class · price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763256" y="2871216"/>
            <a:ext cx="1527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booking_id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seat_number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406640" y="37124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 — 1 hangs below: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6492240" y="4864608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EFF9E4"/>
          </a:solidFill>
          <a:ln w="19050">
            <a:solidFill>
              <a:srgbClr val="4C7A1E"/>
            </a:solidFill>
            <a:prstDash val="dash"/>
          </a:ln>
          <a:effectLst>
            <a:outerShdw blurRad="127000" dist="38100" dir="5400000" algn="bl" rotWithShape="0">
              <a:srgbClr val="163300">
                <a:alpha val="8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6611112" y="4864608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BAGGAGE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weak · (booking_id, seq)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8366760" y="4864608"/>
            <a:ext cx="1188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485632" y="4864608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— 1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9692640" y="4864608"/>
            <a:ext cx="1188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811512" y="4864608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CHECK-INS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— 1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9710928" y="190195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 — ONE KEY, THREE FACES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9710928" y="2176272"/>
            <a:ext cx="1609344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127000" dist="38100" dir="5400000" algn="bl" rotWithShape="0">
              <a:srgbClr val="163300">
                <a:alpha val="8000"/>
              </a:srgbClr>
            </a:outerShdw>
          </a:effectLst>
        </p:spPr>
      </p:sp>
      <p:sp>
        <p:nvSpPr>
          <p:cNvPr id="41" name="Text 37"/>
          <p:cNvSpPr/>
          <p:nvPr/>
        </p:nvSpPr>
        <p:spPr>
          <a:xfrm>
            <a:off x="9829800" y="2176272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EMPLOYEES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shared key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9710928" y="3108960"/>
            <a:ext cx="160934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829800" y="31089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PILOTS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9198864" y="32186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— 1</a:t>
            </a:r>
            <a:endParaRPr lang="en-US" sz="750" dirty="0"/>
          </a:p>
        </p:txBody>
      </p:sp>
      <p:sp>
        <p:nvSpPr>
          <p:cNvPr id="45" name="Shape 41"/>
          <p:cNvSpPr/>
          <p:nvPr/>
        </p:nvSpPr>
        <p:spPr>
          <a:xfrm>
            <a:off x="9710928" y="3657600"/>
            <a:ext cx="160934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829800" y="365760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CREW MEMBERS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9198864" y="3767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— 1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9710928" y="4206240"/>
            <a:ext cx="1609344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829800" y="42062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GROUND STAFF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9198864" y="4315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— 1</a:t>
            </a:r>
            <a:endParaRPr lang="en-US" sz="750" dirty="0"/>
          </a:p>
        </p:txBody>
      </p:sp>
      <p:sp>
        <p:nvSpPr>
          <p:cNvPr id="51" name="Text 47"/>
          <p:cNvSpPr/>
          <p:nvPr/>
        </p:nvSpPr>
        <p:spPr>
          <a:xfrm>
            <a:off x="868680" y="568756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686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hang off one employee key — a licence row cannot exist without its employee.</a:t>
            </a:r>
            <a:endParaRPr lang="en-US" sz="1050" dirty="0"/>
          </a:p>
        </p:txBody>
      </p:sp>
      <p:sp>
        <p:nvSpPr>
          <p:cNvPr id="52" name="Text 48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53" name="Text 49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40">
        <p:cover/>
      </p:transition>
    </mc:Choice>
    <mc:Fallback>
      <p:transition spd="med">
        <p:cov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6" grpId="0" animBg="1"/>
      <p:bldP spid="38" grpId="0" animBg="1"/>
      <p:bldP spid="39" grpId="0" animBg="1"/>
      <p:bldP spid="41" grpId="0" animBg="1"/>
      <p:bldP spid="43" grpId="0" animBg="1"/>
      <p:bldP spid="44" grpId="0" animBg="1"/>
      <p:bldP spid="46" grpId="0" animBg="1"/>
      <p:bldP spid="47" grpId="0" animBg="1"/>
      <p:bldP spid="49" grpId="0" animBg="1"/>
      <p:bldP spid="50" grpId="0" animBg="1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06 — THE RELATIONAL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SIXTEEN TABLES, NINETEEN KEYS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Normal form walked once: bags out of 1NF, passengers and masters out of 3NF — the determinants left are keys.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3332988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6" name="Image 0" descr="C:\Users\dwada\AppData\Local\Temp\opencode\assets\icons\lock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1762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2139696"/>
            <a:ext cx="2601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Bookings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69848" y="2542032"/>
            <a:ext cx="2948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UNIQUE(departure_id, seat_number)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69848" y="2834640"/>
            <a:ext cx="29489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double sale dies at the storage engine. price &gt;= 0 keeps the money positive.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4425696" y="2011680"/>
            <a:ext cx="3332988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11" name="Image 1" descr="C:\Users\dwada\AppData\Local\Temp\opencode\assets\icons\key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21762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92624" y="2139696"/>
            <a:ext cx="2601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Gates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26864" y="2542032"/>
            <a:ext cx="2948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UNIQUE(terminal_id, gate_number)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26864" y="2834640"/>
            <a:ext cx="29489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physical gate is one row — two flights can't own it at once.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7982712" y="2011680"/>
            <a:ext cx="3332988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16" name="Image 2" descr="C:\Users\dwada\AppData\Local\Temp\opencode\assets\icons\luggage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21762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139696"/>
            <a:ext cx="2601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Baggage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83880" y="2542032"/>
            <a:ext cx="2948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(booking_id, baggage_seq)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183880" y="2834640"/>
            <a:ext cx="29489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Weak entity: bag 2 of booking 817 dies with booking 817. 0 &lt; kg &lt;= 100.</a:t>
            </a:r>
            <a:endParaRPr lang="en-US" sz="960" dirty="0"/>
          </a:p>
        </p:txBody>
      </p:sp>
      <p:sp>
        <p:nvSpPr>
          <p:cNvPr id="20" name="Shape 15"/>
          <p:cNvSpPr/>
          <p:nvPr/>
        </p:nvSpPr>
        <p:spPr>
          <a:xfrm>
            <a:off x="868680" y="3767328"/>
            <a:ext cx="3332988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21" name="Image 3" descr="C:\Users\dwada\AppData\Local\Temp\opencode\assets\icons\receipt_fo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39319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35608" y="3895344"/>
            <a:ext cx="2601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 · Check-ins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069848" y="4297680"/>
            <a:ext cx="2948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— 1 to bookings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069848" y="4590288"/>
            <a:ext cx="29489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receipt per booking, one boarding record — no stray history.</a:t>
            </a:r>
            <a:endParaRPr lang="en-US" sz="960" dirty="0"/>
          </a:p>
        </p:txBody>
      </p:sp>
      <p:sp>
        <p:nvSpPr>
          <p:cNvPr id="25" name="Shape 19"/>
          <p:cNvSpPr/>
          <p:nvPr/>
        </p:nvSpPr>
        <p:spPr>
          <a:xfrm>
            <a:off x="4425696" y="3767328"/>
            <a:ext cx="3332988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26" name="Image 4" descr="C:\Users\dwada\AppData\Local\Temp\opencode\assets\icons\plane_for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864" y="393192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92624" y="3895344"/>
            <a:ext cx="2601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Flights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26864" y="4297680"/>
            <a:ext cx="2948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UNIQUE(flight_number) · dep != arr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626864" y="4590288"/>
            <a:ext cx="29489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Same-airport routes are refused by trigger — a CHECK can't watch two FKs.</a:t>
            </a:r>
            <a:endParaRPr lang="en-US" sz="960" dirty="0"/>
          </a:p>
        </p:txBody>
      </p:sp>
      <p:sp>
        <p:nvSpPr>
          <p:cNvPr id="30" name="Shape 23"/>
          <p:cNvSpPr/>
          <p:nvPr/>
        </p:nvSpPr>
        <p:spPr>
          <a:xfrm>
            <a:off x="7982712" y="3767328"/>
            <a:ext cx="3332988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31" name="Image 5" descr="C:\Users\dwada\AppData\Local\Temp\opencode\assets\icons\shieldCheck_fore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3880" y="393192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9640" y="3895344"/>
            <a:ext cx="2601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Delete strategy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83880" y="4297680"/>
            <a:ext cx="2948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 · RESTRICT · SET NULL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8183880" y="4590288"/>
            <a:ext cx="29489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Bags/payments/check-ins vanish with bookings; airports RESTRICT; aircraft just unassign.</a:t>
            </a:r>
            <a:endParaRPr lang="en-US" sz="960" dirty="0"/>
          </a:p>
        </p:txBody>
      </p:sp>
      <p:sp>
        <p:nvSpPr>
          <p:cNvPr id="35" name="Text 27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217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07 — SEED 42, DEMONSTRATED AT VOLUME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kern="0" spc="-4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MEASURED AT VOLUME</a:t>
            </a:r>
            <a:r>
              <a:rPr lang="en-US" sz="3700" kern="0" spc="-4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Deterministic seed 42 — 21 days, load factors 35–80%, payments 92% settled. Pre-load checks: no duplicate seats, every FK inside its parent range.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249424"/>
            <a:ext cx="2486254" cy="14630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49424"/>
            <a:ext cx="2486254" cy="1463040"/>
          </a:xfrm>
          <a:prstGeom prst="roundRect">
            <a:avLst>
              <a:gd name="adj" fmla="val 10000"/>
            </a:avLst>
          </a:prstGeom>
          <a:ln w="15875">
            <a:solidFill>
              <a:srgbClr val="9FE8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395728"/>
            <a:ext cx="21204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34,708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69848" y="3291840"/>
            <a:ext cx="21204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20" dirty="0">
                <a:solidFill>
                  <a:srgbClr val="9FBCA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BOOKINGS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10382" y="2249424"/>
            <a:ext cx="2486254" cy="14630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1550" y="2395728"/>
            <a:ext cx="21204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kern="0" spc="-5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43,314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3711550" y="3291840"/>
            <a:ext cx="21204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20" dirty="0">
                <a:solidFill>
                  <a:srgbClr val="9FBCA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52083" y="2249424"/>
            <a:ext cx="2486254" cy="14630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3251" y="2395728"/>
            <a:ext cx="21204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kern="0" spc="-5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4,000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353251" y="3291840"/>
            <a:ext cx="21204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20" dirty="0">
                <a:solidFill>
                  <a:srgbClr val="9FBCA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PASSENGERS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793785" y="2249424"/>
            <a:ext cx="2486254" cy="14630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4953" y="2395728"/>
            <a:ext cx="21204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kern="0" spc="-5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336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8994953" y="3291840"/>
            <a:ext cx="21204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20" dirty="0">
                <a:solidFill>
                  <a:srgbClr val="9FBCA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DEPARTURES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8680" y="3913632"/>
            <a:ext cx="2486254" cy="932688"/>
          </a:xfrm>
          <a:prstGeom prst="roundRect">
            <a:avLst>
              <a:gd name="adj" fmla="val 1372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13632"/>
            <a:ext cx="21204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-3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16  </a:t>
            </a:r>
            <a:r>
              <a:rPr lang="en-US" sz="900" kern="0" spc="180" dirty="0">
                <a:solidFill>
                  <a:srgbClr val="9FBCA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ROUTES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510382" y="3913632"/>
            <a:ext cx="2486254" cy="932688"/>
          </a:xfrm>
          <a:prstGeom prst="roundRect">
            <a:avLst>
              <a:gd name="adj" fmla="val 1372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1550" y="3913632"/>
            <a:ext cx="21204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-3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  </a:t>
            </a:r>
            <a:r>
              <a:rPr lang="en-US" sz="900" kern="0" spc="180" dirty="0">
                <a:solidFill>
                  <a:srgbClr val="9FBCA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AIRPORTS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152083" y="3913632"/>
            <a:ext cx="2486254" cy="932688"/>
          </a:xfrm>
          <a:prstGeom prst="roundRect">
            <a:avLst>
              <a:gd name="adj" fmla="val 1372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3251" y="3913632"/>
            <a:ext cx="21204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-3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  </a:t>
            </a:r>
            <a:r>
              <a:rPr lang="en-US" sz="900" kern="0" spc="180" dirty="0">
                <a:solidFill>
                  <a:srgbClr val="9FBCA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AIRLINES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8793785" y="3913632"/>
            <a:ext cx="2486254" cy="932688"/>
          </a:xfrm>
          <a:prstGeom prst="roundRect">
            <a:avLst>
              <a:gd name="adj" fmla="val 1372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94953" y="3913632"/>
            <a:ext cx="21204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-3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11,544  </a:t>
            </a:r>
            <a:r>
              <a:rPr lang="en-US" sz="900" kern="0" spc="180" dirty="0">
                <a:solidFill>
                  <a:srgbClr val="9FBCA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CHECK-INS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68680" y="517550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this volume, load factor and revenue are the report — and every number above was queried, not promised.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E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5/main" Requires="p15">
      <p:transition spd="med">
        <p15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08 · GUARD 1 OF 5 — INTEGRITY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THE STORAGE ENGINE SAYS NO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447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Politeness is the greyed-out seat map in the browser. Correctness is the key underneath: </a:t>
            </a:r>
            <a:r>
              <a:rPr lang="en-US" sz="11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UNIQUE(departure_id, seat_number)</a:t>
            </a: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048256"/>
            <a:ext cx="6263640" cy="3063240"/>
          </a:xfrm>
          <a:prstGeom prst="roundRect">
            <a:avLst>
              <a:gd name="adj" fmla="val 4179"/>
            </a:avLst>
          </a:prstGeom>
          <a:solidFill>
            <a:srgbClr val="0A1503"/>
          </a:solidFill>
          <a:ln w="12700">
            <a:solidFill>
              <a:srgbClr val="1E3320"/>
            </a:solidFill>
            <a:prstDash val="solid"/>
          </a:ln>
          <a:effectLst>
            <a:outerShdw blurRad="304800" dist="101600" dir="5400000" algn="bl" rotWithShape="0">
              <a:srgbClr val="0C1F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06424" y="2185416"/>
            <a:ext cx="5806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80" dirty="0">
                <a:solidFill>
                  <a:srgbClr val="6E8E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MYSQL 8.0.46 — skyroute_db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" y="2450592"/>
            <a:ext cx="5806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mysql&gt; </a:t>
            </a:r>
            <a:r>
              <a:rPr lang="en-US" sz="11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Bookings (passenger_id, departure_id,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  seat_number, travel_class, price)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  VALUES (102, 41, '14C', 'Economy', 5124);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1062 (23000): Duplicate entry '41-14C'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 key 'bookings.uq_booking_seat'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106424" y="42976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4240E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FBCA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second writer: refused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11880" y="42976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14240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rows written by loser: 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6424" y="473659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C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refusal is instant, named and clean — the first booking never looked roughed up.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34072" y="2048256"/>
            <a:ext cx="3888943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71816" y="2231136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2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CANNOT MISS</a:t>
            </a:r>
            <a:endParaRPr lang="en-US" sz="950" dirty="0"/>
          </a:p>
        </p:txBody>
      </p:sp>
      <p:pic>
        <p:nvPicPr>
          <p:cNvPr id="15" name="Image 0" descr="C:\Users\dwada\AppData\Local\Temp\opencode\assets\icons\shieldCheck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2615184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037576" y="2578608"/>
            <a:ext cx="302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Engine-level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037576" y="2834640"/>
            <a:ext cx="3047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refusal lives in InnoDB. No app, shell or procedure can route around it.</a:t>
            </a:r>
            <a:endParaRPr lang="en-US" sz="960" dirty="0"/>
          </a:p>
        </p:txBody>
      </p:sp>
      <p:pic>
        <p:nvPicPr>
          <p:cNvPr id="18" name="Image 1" descr="C:\Users\dwada\AppData\Local\Temp\opencode\assets\icons\tag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345643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037576" y="3419856"/>
            <a:ext cx="302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Named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037576" y="3675888"/>
            <a:ext cx="3047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error names the rule that fired — uq_booking_seat — so logs read like sentences.</a:t>
            </a:r>
            <a:endParaRPr lang="en-US" sz="960" dirty="0"/>
          </a:p>
        </p:txBody>
      </p:sp>
      <p:pic>
        <p:nvPicPr>
          <p:cNvPr id="21" name="Image 2" descr="C:\Users\dwada\AppData\Local\Temp\opencode\assets\icons\clock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816" y="429768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37576" y="4261104"/>
            <a:ext cx="3020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Race-proof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037576" y="4517136"/>
            <a:ext cx="3047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writers inside one transaction window still resolve to one winner.</a:t>
            </a:r>
            <a:endParaRPr lang="en-US" sz="960" dirty="0"/>
          </a:p>
        </p:txBody>
      </p:sp>
      <p:sp>
        <p:nvSpPr>
          <p:cNvPr id="24" name="Shape 19"/>
          <p:cNvSpPr/>
          <p:nvPr/>
        </p:nvSpPr>
        <p:spPr>
          <a:xfrm>
            <a:off x="868680" y="5358384"/>
            <a:ext cx="6263640" cy="420624"/>
          </a:xfrm>
          <a:prstGeom prst="roundRect">
            <a:avLst>
              <a:gd name="adj" fmla="val 50000"/>
            </a:avLst>
          </a:prstGeom>
          <a:solidFill>
            <a:srgbClr val="E2F6D5"/>
          </a:solidFill>
          <a:ln/>
        </p:spPr>
      </p:sp>
      <p:sp>
        <p:nvSpPr>
          <p:cNvPr id="25" name="Text 20"/>
          <p:cNvSpPr/>
          <p:nvPr/>
        </p:nvSpPr>
        <p:spPr>
          <a:xfrm>
            <a:off x="868680" y="5358384"/>
            <a:ext cx="6263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COUNT(*) afterwards — exactly as before the attempt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08 · GUARD 2 OF 5 — CAPACITY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914400"/>
            <a:ext cx="9509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-4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SOLD OUT? THE FUSE SIGNALS</a:t>
            </a:r>
            <a:r>
              <a:rPr lang="en-US" sz="3600" kern="0" spc="-4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BEFORE INSERT trigger counts seats sold against aircraft capacity — on every insert, from every door into the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6492240" cy="2980944"/>
          </a:xfrm>
          <a:prstGeom prst="roundRect">
            <a:avLst>
              <a:gd name="adj" fmla="val 4294"/>
            </a:avLst>
          </a:prstGeom>
          <a:solidFill>
            <a:srgbClr val="0A1503"/>
          </a:solidFill>
          <a:ln w="12700">
            <a:solidFill>
              <a:srgbClr val="1E3320"/>
            </a:solidFill>
            <a:prstDash val="solid"/>
          </a:ln>
          <a:effectLst>
            <a:outerShdw blurRad="304800" dist="101600" dir="5400000" algn="bl" rotWithShape="0">
              <a:srgbClr val="0C1F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06424" y="242316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6E8E7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trg_booking_capacity — BEFORE INSERT ON Bookings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" y="2688336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INTO sold FROM Bookings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departure_id = NEW.departure_id;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capacity INTO cap FROM Aircraft ...;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2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cap IS NOT NULL AND sold &gt;= cap THEN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 SQLSTATE '45000';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IF;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106424" y="4572000"/>
            <a:ext cx="4114800" cy="384048"/>
          </a:xfrm>
          <a:prstGeom prst="roundRect">
            <a:avLst>
              <a:gd name="adj" fmla="val 50000"/>
            </a:avLst>
          </a:prstGeom>
          <a:solidFill>
            <a:srgbClr val="2A1213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4572000"/>
            <a:ext cx="4114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F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1644 (45000): Booking refused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662672" y="2286000"/>
            <a:ext cx="3660343" cy="2980944"/>
          </a:xfrm>
          <a:prstGeom prst="roundRect">
            <a:avLst>
              <a:gd name="adj" fmla="val 613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0416" y="2468880"/>
            <a:ext cx="32031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ATTEMPTED OVERSALE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00416" y="2743200"/>
            <a:ext cx="32031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34,708</a:t>
            </a:r>
            <a:endParaRPr lang="en-US" sz="33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bookings on the books — the total refused to move one row past capacity</a:t>
            </a:r>
            <a:endParaRPr lang="en-US" sz="3300" dirty="0"/>
          </a:p>
        </p:txBody>
      </p:sp>
      <p:pic>
        <p:nvPicPr>
          <p:cNvPr id="13" name="Image 0" descr="C:\Users\dwada\AppData\Local\Temp\opencode\assets\icons\check_l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4133088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74736" y="4114800"/>
            <a:ext cx="2883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counts seats on every insert — shell, procedure or web app</a:t>
            </a:r>
            <a:endParaRPr lang="en-US" sz="980" dirty="0"/>
          </a:p>
        </p:txBody>
      </p:sp>
      <p:pic>
        <p:nvPicPr>
          <p:cNvPr id="15" name="Image 1" descr="C:\Users\dwada\AppData\Local\Temp\opencode\assets\icons\check_l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4517136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74736" y="4498848"/>
            <a:ext cx="2883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second guard under UNIQUE(departure_id, seat_number)</a:t>
            </a:r>
            <a:endParaRPr lang="en-US" sz="980" dirty="0"/>
          </a:p>
        </p:txBody>
      </p:sp>
      <p:pic>
        <p:nvPicPr>
          <p:cNvPr id="17" name="Image 2" descr="C:\Users\dwada\AppData\Local\Temp\opencode\assets\icons\check_l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4901184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74736" y="4882896"/>
            <a:ext cx="2883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tested at T-c: fill a plane, book once more, watch it refuse</a:t>
            </a:r>
            <a:endParaRPr lang="en-US" sz="980" dirty="0"/>
          </a:p>
        </p:txBody>
      </p:sp>
      <p:sp>
        <p:nvSpPr>
          <p:cNvPr id="19" name="Text 14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E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5/main" Requires="p15">
      <p:transition spd="med">
        <p15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 animBg="1"/>
      <p:bldP spid="11" grpId="0" animBg="1"/>
      <p:bldP spid="12" grpId="0" animBg="1"/>
      <p:bldP spid="14" grpId="0" animBg="1"/>
      <p:bldP spid="16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08 · THE MONEY RULE — BAGGAGE FEES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ONE FEE, EVERY RECEIPT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charge stopped depending on who is at the desk — the rule moved into a view and can't be haggled around.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1993392"/>
            <a:ext cx="4315968" cy="2395728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06424" y="217627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2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RULE, AS COMPILED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06424" y="2505456"/>
            <a:ext cx="1664208" cy="402336"/>
          </a:xfrm>
          <a:prstGeom prst="roundRect">
            <a:avLst>
              <a:gd name="adj" fmla="val 50000"/>
            </a:avLst>
          </a:prstGeom>
          <a:solidFill>
            <a:srgbClr val="E2F6D5"/>
          </a:solidFill>
          <a:ln/>
        </p:spPr>
      </p:sp>
      <p:sp>
        <p:nvSpPr>
          <p:cNvPr id="8" name="Text 6"/>
          <p:cNvSpPr/>
          <p:nvPr/>
        </p:nvSpPr>
        <p:spPr>
          <a:xfrm>
            <a:off x="1106424" y="2505456"/>
            <a:ext cx="166420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 kg FREE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505456"/>
            <a:ext cx="1810512" cy="402336"/>
          </a:xfrm>
          <a:prstGeom prst="roundRect">
            <a:avLst>
              <a:gd name="adj" fmla="val 50000"/>
            </a:avLst>
          </a:prstGeom>
          <a:solidFill>
            <a:srgbClr val="E2F6D5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2505456"/>
            <a:ext cx="181051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₹500 / extra kg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6424" y="3035808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baggage_fee_rs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5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SUM(GREATEST(kg-20,0))*500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06424" y="3749040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scalar subquery inside booking_receipt_view — valid under ONLY_FULL_GROUP_BY, and the Flask maths agree to the rupee.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440680" y="1883664"/>
            <a:ext cx="5992063" cy="1799695"/>
          </a:xfrm>
          <a:prstGeom prst="roundRect">
            <a:avLst>
              <a:gd name="adj" fmla="val 10162"/>
            </a:avLst>
          </a:prstGeom>
          <a:solidFill>
            <a:srgbClr val="163300"/>
          </a:solidFill>
          <a:ln w="9525">
            <a:solidFill>
              <a:srgbClr val="163300"/>
            </a:solidFill>
            <a:prstDash val="solid"/>
          </a:ln>
          <a:effectLst>
            <a:outerShdw blurRad="254000" dist="88900" dir="5400000" algn="bl" rotWithShape="0">
              <a:srgbClr val="163300">
                <a:alpha val="25000"/>
              </a:srgbClr>
            </a:outerShdw>
          </a:effectLst>
        </p:spPr>
      </p:sp>
      <p:pic>
        <p:nvPicPr>
          <p:cNvPr id="14" name="Image 0" descr="C:\Users\dwada\AppData\Local\Temp\opencode\assets\ticket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1993392"/>
            <a:ext cx="5772607" cy="158023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40680" y="3793087"/>
            <a:ext cx="59920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kern="0" spc="18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FROM THE FLASK APP   </a:t>
            </a:r>
            <a:r>
              <a:rPr lang="en-US" sz="100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31.89 kg carried → 11.89 kg over × ₹500 = ₹5,945 fee, printed red by the view the app calls. Two tracks, one arithmetic — the seed total agrees down to the rupee.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68680" y="5138928"/>
            <a:ext cx="3310128" cy="438912"/>
          </a:xfrm>
          <a:prstGeom prst="roundRect">
            <a:avLst>
              <a:gd name="adj" fmla="val 50000"/>
            </a:avLst>
          </a:prstGeom>
          <a:solidFill>
            <a:srgbClr val="EFF9E4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5138928"/>
            <a:ext cx="331012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8,704 overweight bags in the seed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43400" y="5138928"/>
            <a:ext cx="3520440" cy="438912"/>
          </a:xfrm>
          <a:prstGeom prst="roundRect">
            <a:avLst>
              <a:gd name="adj" fmla="val 50000"/>
            </a:avLst>
          </a:prstGeom>
          <a:solidFill>
            <a:srgbClr val="E2F6D5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5138928"/>
            <a:ext cx="3520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4D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₹2,69,74,740 of fees summed in one view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28432" y="5138928"/>
            <a:ext cx="3401568" cy="438912"/>
          </a:xfrm>
          <a:prstGeom prst="roundRect">
            <a:avLst>
              <a:gd name="adj" fmla="val 50000"/>
            </a:avLst>
          </a:prstGeom>
          <a:solidFill>
            <a:srgbClr val="EFF9E4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28432" y="5138928"/>
            <a:ext cx="340156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~1.2 bags per booking · 80/20 split at 20 kg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8" grpId="0" animBg="1"/>
      <p:bldP spid="10" grpId="0" animBg="1"/>
      <p:bldP spid="11" grpId="0" animBg="1"/>
      <p:bldP spid="12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09 — THE DESK QUESTIONS, ONE QUERY EACH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ONE QUERY, ONE TRUTH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Ten joins and eight analytics cover the board, the routes, the load factors and the spenders — nothing summed twice.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111496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6" name="Image 0" descr="C:\Users\dwada\AppData\Local\Temp\opencode\assets\icons\rows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21762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3896" y="2148840"/>
            <a:ext cx="4288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DEPARTURE 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88136" y="2523744"/>
            <a:ext cx="46725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flight_board_view joins timetable + both airports + airline + aircraft + gate + terminal — the board is one SELECT.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04204" y="2011680"/>
            <a:ext cx="5111496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10" name="Image 1" descr="C:\Users\dwada\AppData\Local\Temp\opencode\assets\icons\chart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21762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89420" y="2148840"/>
            <a:ext cx="4288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BUSIEST ROUTE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23660" y="2523744"/>
            <a:ext cx="4672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COUNT(*) grouped by route: MAA → BOM leads at 2,688 bookings, HYD → BOM two rows behind.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423660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4D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MAA→BOM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575804" y="3072384"/>
            <a:ext cx="2822042" cy="201168"/>
          </a:xfrm>
          <a:prstGeom prst="roundRect">
            <a:avLst>
              <a:gd name="adj" fmla="val 40909"/>
            </a:avLst>
          </a:prstGeom>
          <a:solidFill>
            <a:srgbClr val="054D28"/>
          </a:solidFill>
          <a:ln/>
        </p:spPr>
      </p:sp>
      <p:sp>
        <p:nvSpPr>
          <p:cNvPr id="15" name="Text 11"/>
          <p:cNvSpPr/>
          <p:nvPr/>
        </p:nvSpPr>
        <p:spPr>
          <a:xfrm>
            <a:off x="10416134" y="30723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2688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423660" y="33467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HYD→BOM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575804" y="3328416"/>
            <a:ext cx="2796845" cy="201168"/>
          </a:xfrm>
          <a:prstGeom prst="roundRect">
            <a:avLst>
              <a:gd name="adj" fmla="val 40909"/>
            </a:avLst>
          </a:prstGeom>
          <a:solidFill>
            <a:srgbClr val="E8EBE6"/>
          </a:solidFill>
          <a:ln w="6350">
            <a:solidFill>
              <a:srgbClr val="DFE4D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390937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2664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868680" y="3877056"/>
            <a:ext cx="5111496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20" name="Image 2" descr="C:\Users\dwada\AppData\Local\Temp\opencode\assets\icons\filter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404164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53896" y="4014216"/>
            <a:ext cx="4288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UNDER-LOADED FLIGHTS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88136" y="4389120"/>
            <a:ext cx="46725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factor = seats sold ÷ aircraft capacity; HAVING &lt; 60 keeps the flights that need attention first.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204204" y="3877056"/>
            <a:ext cx="5111496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pic>
        <p:nvPicPr>
          <p:cNvPr id="24" name="Image 3" descr="C:\Users\dwada\AppData\Local\Temp\opencode\assets\icons\coins_for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3660" y="404164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89420" y="4014216"/>
            <a:ext cx="4288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BIG SPENDERS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423660" y="4389120"/>
            <a:ext cx="46725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correlated subquery lists passengers above the average fare — the average is computed once, not per row.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40">
        <p:cover/>
      </p:transition>
    </mc:Choice>
    <mc:Fallback>
      <p:transition spd="med">
        <p:cov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21" grpId="0" animBg="1"/>
      <p:bldP spid="22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10 — ATOMICITY ON STAGE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914400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-4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ONE CALL. TWO ROWS. </a:t>
            </a:r>
            <a:r>
              <a:rPr lang="en-US" sz="3600" kern="0" spc="-4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OR NONE.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16276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MakeBooking writes the seat and opens a Pending UPI payment inside one transaction — an EXIT HANDLER rolls the entire call back on any error.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6172200" cy="2432304"/>
          </a:xfrm>
          <a:prstGeom prst="roundRect">
            <a:avLst>
              <a:gd name="adj" fmla="val 82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377440"/>
            <a:ext cx="1645920" cy="2249424"/>
          </a:xfrm>
          <a:prstGeom prst="roundRect">
            <a:avLst>
              <a:gd name="adj" fmla="val 7778"/>
            </a:avLst>
          </a:prstGeom>
          <a:solidFill>
            <a:srgbClr val="16330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kern="0" spc="-5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10C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960120" y="32552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6E-501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4930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BC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SR-101038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34440" y="3840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2420F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840480"/>
            <a:ext cx="1097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08:00 · G1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34056" y="2505456"/>
            <a:ext cx="0" cy="1993392"/>
          </a:xfrm>
          <a:prstGeom prst="line">
            <a:avLst/>
          </a:prstGeom>
          <a:noFill/>
          <a:ln w="12700">
            <a:solidFill>
              <a:srgbClr val="DFE4D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843784" y="248716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0F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Riya Mehta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73168" y="24505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FF9E4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2450592"/>
            <a:ext cx="1005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54D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Confirmed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15584" y="2450592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163300"/>
          </a:solidFill>
          <a:ln/>
        </p:spPr>
      </p:sp>
      <p:sp>
        <p:nvSpPr>
          <p:cNvPr id="17" name="Text 15"/>
          <p:cNvSpPr/>
          <p:nvPr/>
        </p:nvSpPr>
        <p:spPr>
          <a:xfrm>
            <a:off x="5815584" y="2450592"/>
            <a:ext cx="102412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43784" y="2834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HYD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925312" y="28346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BLR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3758184" y="3035808"/>
            <a:ext cx="2075688" cy="0"/>
          </a:xfrm>
          <a:prstGeom prst="line">
            <a:avLst/>
          </a:prstGeom>
          <a:noFill/>
          <a:ln w="15875">
            <a:solidFill>
              <a:srgbClr val="BFD9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8868" y="2903220"/>
            <a:ext cx="274320" cy="274320"/>
          </a:xfrm>
          <a:prstGeom prst="ellipse">
            <a:avLst/>
          </a:prstGeom>
          <a:solidFill>
            <a:srgbClr val="C9E5B0"/>
          </a:solidFill>
          <a:ln/>
        </p:spPr>
      </p:sp>
      <p:pic>
        <p:nvPicPr>
          <p:cNvPr id="22" name="Image 0" descr="C:\Users\dwada\AppData\Local\Temp\opencode\assets\icons\plane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967228"/>
            <a:ext cx="137160" cy="13716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430268" y="32004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30268" y="3200400"/>
            <a:ext cx="731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6E-501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843784" y="32369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08:00 · 2026-11-01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925312" y="3236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09:20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843784" y="3584448"/>
            <a:ext cx="3995928" cy="0"/>
          </a:xfrm>
          <a:prstGeom prst="line">
            <a:avLst/>
          </a:prstGeom>
          <a:noFill/>
          <a:ln w="9525">
            <a:solidFill>
              <a:srgbClr val="DFE4D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43784" y="3694176"/>
            <a:ext cx="9761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6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843784" y="3867912"/>
            <a:ext cx="92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F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₹13,879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819906" y="3694176"/>
            <a:ext cx="9761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6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CLASS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3819906" y="3867912"/>
            <a:ext cx="92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F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796028" y="3694176"/>
            <a:ext cx="9761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6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BAGS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796028" y="3867912"/>
            <a:ext cx="92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F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· 18.69 kg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772150" y="3694176"/>
            <a:ext cx="9761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6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SEAT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772150" y="3867912"/>
            <a:ext cx="92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F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10C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868680" y="4809744"/>
            <a:ext cx="6172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 38, exactly as the seed wrote it — one passenger row, one flight row, two bag rows (38,1) and (38,2). Nothing stored twice.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7342632" y="2286000"/>
            <a:ext cx="3980383" cy="2432304"/>
          </a:xfrm>
          <a:prstGeom prst="roundRect">
            <a:avLst>
              <a:gd name="adj" fmla="val 75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562088" y="2468880"/>
            <a:ext cx="3541471" cy="402336"/>
          </a:xfrm>
          <a:prstGeom prst="roundRect">
            <a:avLst>
              <a:gd name="adj" fmla="val 50000"/>
            </a:avLst>
          </a:prstGeom>
          <a:solidFill>
            <a:srgbClr val="14240E"/>
          </a:solidFill>
          <a:ln/>
        </p:spPr>
      </p:sp>
      <p:sp>
        <p:nvSpPr>
          <p:cNvPr id="39" name="Text 36"/>
          <p:cNvSpPr/>
          <p:nvPr/>
        </p:nvSpPr>
        <p:spPr>
          <a:xfrm>
            <a:off x="7562088" y="2468880"/>
            <a:ext cx="3541471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sp_make_booking(pax, dep, seat, class, price, OUT id)</a:t>
            </a:r>
            <a:endParaRPr lang="en-US" sz="880" dirty="0"/>
          </a:p>
        </p:txBody>
      </p:sp>
      <p:pic>
        <p:nvPicPr>
          <p:cNvPr id="40" name="Image 1" descr="C:\Users\dwada\AppData\Local\Temp\opencode\assets\icons\ticket_l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376" y="3072384"/>
            <a:ext cx="219456" cy="219456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891272" y="3054096"/>
            <a:ext cx="31574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8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booking row and its payment row leave together — or an error fired and neither exists.</a:t>
            </a:r>
            <a:endParaRPr lang="en-US" sz="980" dirty="0"/>
          </a:p>
        </p:txBody>
      </p:sp>
      <p:pic>
        <p:nvPicPr>
          <p:cNvPr id="42" name="Image 2" descr="C:\Users\dwada\AppData\Local\Temp\opencode\assets\icons\undo_li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3621024"/>
            <a:ext cx="219456" cy="219456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7891272" y="3602736"/>
            <a:ext cx="31574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8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taken seat trips the UNIQUE key inside the procedure: the EXIT HANDLER rolls back and re-signals.</a:t>
            </a:r>
            <a:endParaRPr lang="en-US" sz="980" dirty="0"/>
          </a:p>
        </p:txBody>
      </p:sp>
      <p:pic>
        <p:nvPicPr>
          <p:cNvPr id="44" name="Image 3" descr="C:\Users\dwada\AppData\Local\Temp\opencode\assets\icons\bolt_li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0376" y="4169664"/>
            <a:ext cx="219456" cy="219456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7891272" y="4151376"/>
            <a:ext cx="31574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98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desk can't win the race by clicking faster. It gets words, not a crash.</a:t>
            </a:r>
            <a:endParaRPr lang="en-US" sz="980" dirty="0"/>
          </a:p>
        </p:txBody>
      </p:sp>
      <p:sp>
        <p:nvSpPr>
          <p:cNvPr id="46" name="Text 40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E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8" grpId="0" animBg="1"/>
      <p:bldP spid="19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9" grpId="0" animBg="1"/>
      <p:bldP spid="41" grpId="0" animBg="1"/>
      <p:bldP spid="43" grpId="0" animBg="1"/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11 — TRANSACTIONS, WITH WITNESSES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ACID, WITH WITNESSES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runs against the live database — each starts from a known state and ends by restoring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084832"/>
            <a:ext cx="3332988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8136" y="2286000"/>
            <a:ext cx="512064" cy="512064"/>
          </a:xfrm>
          <a:prstGeom prst="ellipse">
            <a:avLst/>
          </a:prstGeom>
          <a:solidFill>
            <a:srgbClr val="163300"/>
          </a:solidFill>
          <a:ln/>
        </p:spPr>
      </p:sp>
      <p:pic>
        <p:nvPicPr>
          <p:cNvPr id="7" name="Image 0" descr="C:\Users\dwada\AppData\Local\Temp\opencode\assets\icons\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24140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" y="2907792"/>
            <a:ext cx="2875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COMMIT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88136" y="3218688"/>
            <a:ext cx="28757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 + payment appear together — two rows in one breath, both or neither.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88136" y="4041648"/>
            <a:ext cx="2894076" cy="146304"/>
          </a:xfrm>
          <a:prstGeom prst="roundRect">
            <a:avLst>
              <a:gd name="adj" fmla="val 50000"/>
            </a:avLst>
          </a:prstGeom>
          <a:solidFill>
            <a:srgbClr val="E8EBE6"/>
          </a:solidFill>
          <a:ln/>
        </p:spPr>
      </p:sp>
      <p:sp>
        <p:nvSpPr>
          <p:cNvPr id="11" name="Shape 8"/>
          <p:cNvSpPr/>
          <p:nvPr/>
        </p:nvSpPr>
        <p:spPr>
          <a:xfrm>
            <a:off x="1088136" y="4041648"/>
            <a:ext cx="2894076" cy="146304"/>
          </a:xfrm>
          <a:prstGeom prst="roundRect">
            <a:avLst>
              <a:gd name="adj" fmla="val 50000"/>
            </a:avLst>
          </a:prstGeom>
          <a:solidFill>
            <a:srgbClr val="4C7A1E"/>
          </a:solidFill>
          <a:ln/>
        </p:spPr>
      </p:sp>
      <p:sp>
        <p:nvSpPr>
          <p:cNvPr id="12" name="Text 9"/>
          <p:cNvSpPr/>
          <p:nvPr/>
        </p:nvSpPr>
        <p:spPr>
          <a:xfrm>
            <a:off x="1088136" y="4224528"/>
            <a:ext cx="2894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C7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rows visible after COMMIT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425696" y="2084832"/>
            <a:ext cx="3332988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45152" y="2286000"/>
            <a:ext cx="512064" cy="512064"/>
          </a:xfrm>
          <a:prstGeom prst="ellipse">
            <a:avLst/>
          </a:prstGeom>
          <a:solidFill>
            <a:srgbClr val="163300"/>
          </a:solidFill>
          <a:ln/>
        </p:spPr>
      </p:sp>
      <p:pic>
        <p:nvPicPr>
          <p:cNvPr id="15" name="Image 1" descr="C:\Users\dwada\AppData\Local\Temp\opencode\assets\icons\und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41401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45152" y="2907792"/>
            <a:ext cx="2875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ROLLBACK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45152" y="3218688"/>
            <a:ext cx="28757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 passenger repeats a passport → ERROR 1062 → count afterwards: zero.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45152" y="4041648"/>
            <a:ext cx="2894076" cy="146304"/>
          </a:xfrm>
          <a:prstGeom prst="roundRect">
            <a:avLst>
              <a:gd name="adj" fmla="val 50000"/>
            </a:avLst>
          </a:prstGeom>
          <a:solidFill>
            <a:srgbClr val="E8EBE6"/>
          </a:solidFill>
          <a:ln/>
        </p:spPr>
      </p:sp>
      <p:sp>
        <p:nvSpPr>
          <p:cNvPr id="19" name="Shape 15"/>
          <p:cNvSpPr/>
          <p:nvPr/>
        </p:nvSpPr>
        <p:spPr>
          <a:xfrm>
            <a:off x="4645152" y="4041648"/>
            <a:ext cx="164592" cy="146304"/>
          </a:xfrm>
          <a:prstGeom prst="roundRect">
            <a:avLst>
              <a:gd name="adj" fmla="val 50000"/>
            </a:avLst>
          </a:prstGeom>
          <a:solidFill>
            <a:srgbClr val="CB272F"/>
          </a:solidFill>
          <a:ln/>
        </p:spPr>
      </p:sp>
      <p:sp>
        <p:nvSpPr>
          <p:cNvPr id="20" name="Text 16"/>
          <p:cNvSpPr/>
          <p:nvPr/>
        </p:nvSpPr>
        <p:spPr>
          <a:xfrm>
            <a:off x="4645152" y="4224528"/>
            <a:ext cx="2894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27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rows_left_behind: 0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7982712" y="2084832"/>
            <a:ext cx="3332988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02168" y="2286000"/>
            <a:ext cx="512064" cy="512064"/>
          </a:xfrm>
          <a:prstGeom prst="ellipse">
            <a:avLst/>
          </a:prstGeom>
          <a:solidFill>
            <a:srgbClr val="163300"/>
          </a:solidFill>
          <a:ln/>
        </p:spPr>
      </p:sp>
      <p:pic>
        <p:nvPicPr>
          <p:cNvPr id="23" name="Image 2" descr="C:\Users\dwada\AppData\Local\Temp\opencode\assets\icons\hourglas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2414016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02168" y="2907792"/>
            <a:ext cx="2875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ISOLATION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8202168" y="3218688"/>
            <a:ext cx="28757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2 waits 9.08 s on a locked row; when session 1 rolls back, the wait completes.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202168" y="4041648"/>
            <a:ext cx="2894076" cy="146304"/>
          </a:xfrm>
          <a:prstGeom prst="roundRect">
            <a:avLst>
              <a:gd name="adj" fmla="val 50000"/>
            </a:avLst>
          </a:prstGeom>
          <a:solidFill>
            <a:srgbClr val="E8EBE6"/>
          </a:solidFill>
          <a:ln/>
        </p:spPr>
      </p:sp>
      <p:sp>
        <p:nvSpPr>
          <p:cNvPr id="27" name="Shape 22"/>
          <p:cNvSpPr/>
          <p:nvPr/>
        </p:nvSpPr>
        <p:spPr>
          <a:xfrm>
            <a:off x="8202168" y="4041648"/>
            <a:ext cx="2025853" cy="146304"/>
          </a:xfrm>
          <a:prstGeom prst="roundRect">
            <a:avLst>
              <a:gd name="adj" fmla="val 50000"/>
            </a:avLst>
          </a:prstGeom>
          <a:solidFill>
            <a:srgbClr val="8B5E00"/>
          </a:solidFill>
          <a:ln/>
        </p:spPr>
      </p:sp>
      <p:sp>
        <p:nvSpPr>
          <p:cNvPr id="28" name="Text 23"/>
          <p:cNvSpPr/>
          <p:nvPr/>
        </p:nvSpPr>
        <p:spPr>
          <a:xfrm>
            <a:off x="8202168" y="4224528"/>
            <a:ext cx="28940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5E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lock: 9.08 s elapsed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868680" y="49011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686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row again before COMMIT returns the old value — isolation, not poetry.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9" grpId="0" animBg="1"/>
      <p:bldP spid="12" grpId="0" animBg="1"/>
      <p:bldP spid="16" grpId="0" animBg="1"/>
      <p:bldP spid="17" grpId="0" animBg="1"/>
      <p:bldP spid="20" grpId="0" animBg="1"/>
      <p:bldP spid="24" grpId="0" animBg="1"/>
      <p:bldP spid="25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12 — THE BUSY PATHS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MEASURED, NOT GUESSED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workload indexes, each stamped with an EXPLAIN pair before and after. Single-column FK indexes were already there — untouched.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394960" cy="3611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9525">
            <a:solidFill>
              <a:srgbClr val="DFE4DC"/>
            </a:solidFill>
            <a:prstDash val="solid"/>
          </a:ln>
          <a:effectLst>
            <a:outerShdw blurRad="203200" dist="50800" dir="5400000" algn="bl" rotWithShape="0">
              <a:srgbClr val="1633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06424" y="21945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idx_bookings_status — same rows, different reads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88136" y="24688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kern="0" spc="-50" dirty="0">
                <a:solidFill>
                  <a:srgbClr val="054D2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5,449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1106424" y="31455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rows read through the index — bookings_status = 'Confirmed'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06424" y="35844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4D2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with index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3584448"/>
            <a:ext cx="385038" cy="274320"/>
          </a:xfrm>
          <a:prstGeom prst="roundRect">
            <a:avLst>
              <a:gd name="adj" fmla="val 33333"/>
            </a:avLst>
          </a:prstGeom>
          <a:solidFill>
            <a:srgbClr val="9FE870"/>
          </a:solidFill>
          <a:ln w="9525">
            <a:solidFill>
              <a:srgbClr val="B9E3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9910" y="3584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5449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06424" y="405993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without index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1720" y="4059936"/>
            <a:ext cx="2395728" cy="274320"/>
          </a:xfrm>
          <a:prstGeom prst="roundRect">
            <a:avLst>
              <a:gd name="adj" fmla="val 33333"/>
            </a:avLst>
          </a:prstGeom>
          <a:solidFill>
            <a:srgbClr val="E8EBE6"/>
          </a:solidFill>
          <a:ln w="7620">
            <a:solidFill>
              <a:srgbClr val="DFE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4059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C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33904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06424" y="4700016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86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answer either way — what changes is how many rows the engine touches: about a sixth of the reads.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06424" y="5065776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2F6D5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5065776"/>
            <a:ext cx="2377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 before · after, captured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65392" y="2011680"/>
            <a:ext cx="4757623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DFE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2112264"/>
            <a:ext cx="25630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idx_bookings_status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48272" y="2395728"/>
            <a:ext cx="25630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Bookings(booking_status)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9357055" y="2011680"/>
            <a:ext cx="1783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5,449</a:t>
            </a: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read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65392" y="2862072"/>
            <a:ext cx="4757623" cy="731520"/>
          </a:xfrm>
          <a:prstGeom prst="roundRect">
            <a:avLst>
              <a:gd name="adj" fmla="val 15000"/>
            </a:avLst>
          </a:prstGeom>
          <a:solidFill>
            <a:srgbClr val="EFF9E4"/>
          </a:solidFill>
          <a:ln w="8890">
            <a:solidFill>
              <a:srgbClr val="DFE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2962656"/>
            <a:ext cx="25630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idx_departures_date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48272" y="3246120"/>
            <a:ext cx="25630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Departures(scheduled_departure)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9357055" y="2862072"/>
            <a:ext cx="1783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</a:t>
            </a: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read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65392" y="3712464"/>
            <a:ext cx="4757623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8890">
            <a:solidFill>
              <a:srgbClr val="DFE4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3813048"/>
            <a:ext cx="25630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idx_passengers_name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48272" y="4096512"/>
            <a:ext cx="25630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Passengers(last_name, first_name)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357055" y="3712464"/>
            <a:ext cx="1783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257</a:t>
            </a: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read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65392" y="4562856"/>
            <a:ext cx="4757623" cy="731520"/>
          </a:xfrm>
          <a:prstGeom prst="roundRect">
            <a:avLst>
              <a:gd name="adj" fmla="val 15000"/>
            </a:avLst>
          </a:prstGeom>
          <a:solidFill>
            <a:srgbClr val="EFF9E4"/>
          </a:solidFill>
          <a:ln w="8890">
            <a:solidFill>
              <a:srgbClr val="DFE4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4663440"/>
            <a:ext cx="25630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idx_baggage_weight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48272" y="4946904"/>
            <a:ext cx="25630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Baggage(weight_kg)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9357055" y="4562856"/>
            <a:ext cx="1783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8,704</a:t>
            </a:r>
            <a:r>
              <a:rPr lang="en-US" sz="850" dirty="0">
                <a:solidFill>
                  <a:srgbClr val="8686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read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65392" y="5413248"/>
            <a:ext cx="47576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8686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figures = rows read with the index in place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2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40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13 — ACCESS CONTROL, LEAST PRIVILEGE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914400"/>
            <a:ext cx="9509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-4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THREE USERS, ONE DIALECT</a:t>
            </a:r>
            <a:r>
              <a:rPr lang="en-US" sz="3600" kern="0" spc="-4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Checked live against the grant tables — a grant on a misspelled database name succeeds and protects nothing, so the names are character-exact.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212848"/>
            <a:ext cx="3332988" cy="2651760"/>
          </a:xfrm>
          <a:prstGeom prst="roundRect">
            <a:avLst>
              <a:gd name="adj" fmla="val 689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6" name="Image 0" descr="C:\Users\dwada\AppData\Local\Temp\opencode\assets\icons\user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541" y="2546421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9928" y="2487168"/>
            <a:ext cx="232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sky_admin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06424" y="3145536"/>
            <a:ext cx="28757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PRIVILEGES ON `skyroute_db`.*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6424" y="3785616"/>
            <a:ext cx="28757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the schema, the data and the doors — the only user allowed to shape tables.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25696" y="2212848"/>
            <a:ext cx="3332988" cy="2651760"/>
          </a:xfrm>
          <a:prstGeom prst="roundRect">
            <a:avLst>
              <a:gd name="adj" fmla="val 689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11" name="Image 1" descr="C:\Users\dwada\AppData\Local\Temp\opencode\assets\icons\check_l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557" y="2546421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66944" y="2487168"/>
            <a:ext cx="232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sky_staff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3145536"/>
            <a:ext cx="28757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INSERT, UPDATE ON `skyroute_db`.*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663440" y="3785616"/>
            <a:ext cx="28757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Operations: books, checks in, takes payments, adds bags — no DDL, no structural change.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982712" y="2212848"/>
            <a:ext cx="3332988" cy="2651760"/>
          </a:xfrm>
          <a:prstGeom prst="roundRect">
            <a:avLst>
              <a:gd name="adj" fmla="val 689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pic>
        <p:nvPicPr>
          <p:cNvPr id="16" name="Image 2" descr="C:\Users\dwada\AppData\Local\Temp\opencode\assets\icons\eyeOff_li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573" y="2546421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2487168"/>
            <a:ext cx="232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sky_viewer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0456" y="3145536"/>
            <a:ext cx="28757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FE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`skyroute_db`.*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220456" y="3785616"/>
            <a:ext cx="28757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CFE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reports, records nothing — the INSERT was refused live, at line 1.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220456" y="4407408"/>
            <a:ext cx="2857500" cy="329184"/>
          </a:xfrm>
          <a:prstGeom prst="roundRect">
            <a:avLst>
              <a:gd name="adj" fmla="val 50000"/>
            </a:avLst>
          </a:prstGeom>
          <a:solidFill>
            <a:srgbClr val="2A1213"/>
          </a:solidFill>
          <a:ln/>
        </p:spPr>
      </p:sp>
      <p:sp>
        <p:nvSpPr>
          <p:cNvPr id="21" name="Text 16"/>
          <p:cNvSpPr/>
          <p:nvPr/>
        </p:nvSpPr>
        <p:spPr>
          <a:xfrm>
            <a:off x="8220456" y="4407408"/>
            <a:ext cx="28575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FF6E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1142 (42000): INSERT denied</a:t>
            </a:r>
            <a:endParaRPr lang="en-US" sz="760" dirty="0"/>
          </a:p>
        </p:txBody>
      </p:sp>
      <p:sp>
        <p:nvSpPr>
          <p:cNvPr id="22" name="Text 17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E9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5/main" Requires="p15">
      <p:transition spd="med">
        <p15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14 — THE WEB TIER · FLASK + MYSQL-CONNECTOR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SAME TABLES, ONE PORTAL</a:t>
            </a:r>
            <a:r>
              <a:rPr lang="en-US" sz="31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page is a view, every booking one CALL to the procedure. The seat-grey courtesy lives in the browser; the refusal lives in the server.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6384" y="1984248"/>
            <a:ext cx="3657600" cy="2347722"/>
          </a:xfrm>
          <a:prstGeom prst="roundRect">
            <a:avLst>
              <a:gd name="adj" fmla="val 6232"/>
            </a:avLst>
          </a:prstGeom>
          <a:solidFill>
            <a:srgbClr val="163300"/>
          </a:solidFill>
          <a:ln w="9525">
            <a:solidFill>
              <a:srgbClr val="163300"/>
            </a:solidFill>
            <a:prstDash val="solid"/>
          </a:ln>
          <a:effectLst>
            <a:outerShdw blurRad="228600" dist="76200" dir="5400000" algn="bl" rotWithShape="0">
              <a:srgbClr val="163300">
                <a:alpha val="22000"/>
              </a:srgbClr>
            </a:outerShdw>
          </a:effectLst>
        </p:spPr>
      </p:sp>
      <p:pic>
        <p:nvPicPr>
          <p:cNvPr id="6" name="Image 0" descr="C:\Users\dwada\AppData\Local\Temp\opencode\shots\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066544"/>
            <a:ext cx="3493008" cy="218313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78408" y="384733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63300"/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8408" y="3847338"/>
            <a:ext cx="23774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kern="0" spc="6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 — SEARCH HERO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72584" y="1984248"/>
            <a:ext cx="6732727" cy="1826478"/>
          </a:xfrm>
          <a:prstGeom prst="roundRect">
            <a:avLst>
              <a:gd name="adj" fmla="val 8010"/>
            </a:avLst>
          </a:prstGeom>
          <a:solidFill>
            <a:srgbClr val="163300"/>
          </a:solidFill>
          <a:ln w="9525">
            <a:solidFill>
              <a:srgbClr val="163300"/>
            </a:solidFill>
            <a:prstDash val="solid"/>
          </a:ln>
          <a:effectLst>
            <a:outerShdw blurRad="228600" dist="76200" dir="5400000" algn="bl" rotWithShape="0">
              <a:srgbClr val="163300">
                <a:alpha val="22000"/>
              </a:srgbClr>
            </a:outerShdw>
          </a:effectLst>
        </p:spPr>
      </p:sp>
      <p:pic>
        <p:nvPicPr>
          <p:cNvPr id="10" name="Image 1" descr="C:\Users\dwada\AppData\Local\Temp\opencode\assets\manifest_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066544"/>
            <a:ext cx="6568135" cy="166188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64608" y="3326094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163300"/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64608" y="3326094"/>
            <a:ext cx="3108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kern="0" spc="6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 MANIFEST — 6E-501 HYD→BLR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786384" y="4507992"/>
            <a:ext cx="5239512" cy="1553840"/>
          </a:xfrm>
          <a:prstGeom prst="roundRect">
            <a:avLst>
              <a:gd name="adj" fmla="val 9416"/>
            </a:avLst>
          </a:prstGeom>
          <a:solidFill>
            <a:srgbClr val="163300"/>
          </a:solidFill>
          <a:ln w="9525">
            <a:solidFill>
              <a:srgbClr val="163300"/>
            </a:solidFill>
            <a:prstDash val="solid"/>
          </a:ln>
          <a:effectLst>
            <a:outerShdw blurRad="228600" dist="76200" dir="5400000" algn="bl" rotWithShape="0">
              <a:srgbClr val="163300">
                <a:alpha val="22000"/>
              </a:srgbClr>
            </a:outerShdw>
          </a:effectLst>
        </p:spPr>
      </p:sp>
      <p:pic>
        <p:nvPicPr>
          <p:cNvPr id="14" name="Image 2" descr="C:\Users\dwada\AppData\Local\Temp\opencode\assets\ticket_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590288"/>
            <a:ext cx="5074920" cy="138924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78408" y="557720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163300"/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78408" y="5577200"/>
            <a:ext cx="30175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kern="0" spc="6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TRAVELER TICKET — ₹5,945 FEE MATH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6254496" y="4771474"/>
            <a:ext cx="4005072" cy="1026876"/>
          </a:xfrm>
          <a:prstGeom prst="roundRect">
            <a:avLst>
              <a:gd name="adj" fmla="val 14247"/>
            </a:avLst>
          </a:prstGeom>
          <a:solidFill>
            <a:srgbClr val="163300"/>
          </a:solidFill>
          <a:ln w="9525">
            <a:solidFill>
              <a:srgbClr val="163300"/>
            </a:solidFill>
            <a:prstDash val="solid"/>
          </a:ln>
          <a:effectLst>
            <a:outerShdw blurRad="228600" dist="76200" dir="5400000" algn="bl" rotWithShape="0">
              <a:srgbClr val="163300">
                <a:alpha val="22000"/>
              </a:srgbClr>
            </a:outerShdw>
          </a:effectLst>
        </p:spPr>
      </p:sp>
      <p:pic>
        <p:nvPicPr>
          <p:cNvPr id="18" name="Image 3" descr="C:\Users\dwada\AppData\Local\Temp\opencode\assets\results_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4853770"/>
            <a:ext cx="3840480" cy="86228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46520" y="5313718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63300"/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46520" y="5313718"/>
            <a:ext cx="2286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kern="0" spc="6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ROUTE SEARCH — ONE VIEW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10433304" y="4718304"/>
            <a:ext cx="889711" cy="457200"/>
          </a:xfrm>
          <a:prstGeom prst="roundRect">
            <a:avLst>
              <a:gd name="adj" fmla="val 50000"/>
            </a:avLst>
          </a:prstGeom>
          <a:solidFill>
            <a:srgbClr val="E2F6D5"/>
          </a:solidFill>
          <a:ln/>
        </p:spPr>
      </p:sp>
      <p:sp>
        <p:nvSpPr>
          <p:cNvPr id="22" name="Text 16"/>
          <p:cNvSpPr/>
          <p:nvPr/>
        </p:nvSpPr>
        <p:spPr>
          <a:xfrm>
            <a:off x="10433304" y="4718304"/>
            <a:ext cx="889711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tables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views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10433304" y="5266944"/>
            <a:ext cx="889711" cy="457200"/>
          </a:xfrm>
          <a:prstGeom prst="roundRect">
            <a:avLst>
              <a:gd name="adj" fmla="val 50000"/>
            </a:avLst>
          </a:prstGeom>
          <a:solidFill>
            <a:srgbClr val="E2F6D5"/>
          </a:solidFill>
          <a:ln/>
        </p:spPr>
      </p:sp>
      <p:sp>
        <p:nvSpPr>
          <p:cNvPr id="24" name="Text 18"/>
          <p:cNvSpPr/>
          <p:nvPr/>
        </p:nvSpPr>
        <p:spPr>
          <a:xfrm>
            <a:off x="10433304" y="5266944"/>
            <a:ext cx="889711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+ 1 procedure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both tracks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10433304" y="5833872"/>
            <a:ext cx="889711" cy="402336"/>
          </a:xfrm>
          <a:prstGeom prst="roundRect">
            <a:avLst>
              <a:gd name="adj" fmla="val 50000"/>
            </a:avLst>
          </a:prstGeom>
          <a:solidFill>
            <a:srgbClr val="E2F6D5"/>
          </a:solidFill>
          <a:ln/>
        </p:spPr>
      </p:sp>
      <p:sp>
        <p:nvSpPr>
          <p:cNvPr id="26" name="Text 20"/>
          <p:cNvSpPr/>
          <p:nvPr/>
        </p:nvSpPr>
        <p:spPr>
          <a:xfrm>
            <a:off x="10433304" y="5833872"/>
            <a:ext cx="889711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63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28 green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868680" y="6016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86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Framed evidence, captured live from the running portal — captions ride the frames.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12" grpId="0" animBg="1"/>
      <p:bldP spid="16" grpId="0" animBg="1"/>
      <p:bldP spid="20" grpId="0" animBg="1"/>
      <p:bldP spid="22" grpId="0" animBg="1"/>
      <p:bldP spid="24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303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6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15 — TESTING &amp; VALIDATION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68680" y="841248"/>
            <a:ext cx="9692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kern="0" spc="-30" dirty="0">
                <a:solidFill>
                  <a:srgbClr val="1633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EVERY CHECK STATES ITS EXPECTATION</a:t>
            </a:r>
            <a:r>
              <a:rPr lang="en-US" sz="2900" kern="0" spc="-30" dirty="0">
                <a:solidFill>
                  <a:srgbClr val="4C7A1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6C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24 database checks in 8 groups + 28 application checks — the expectation is stated before the run, so the log reads as a protocol.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2029968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212848"/>
            <a:ext cx="118872" cy="118872"/>
          </a:xfrm>
          <a:prstGeom prst="ellipse">
            <a:avLst/>
          </a:prstGeom>
          <a:solidFill>
            <a:srgbClr val="CB272F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212140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27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1062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52728" y="24414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2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seat refused — '1-20B' on uq_booking_seat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511296" y="2029968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94176" y="2212848"/>
            <a:ext cx="118872" cy="118872"/>
          </a:xfrm>
          <a:prstGeom prst="ellipse">
            <a:avLst/>
          </a:prstGeom>
          <a:solidFill>
            <a:srgbClr val="CB272F"/>
          </a:solidFill>
          <a:ln/>
        </p:spPr>
      </p:sp>
      <p:sp>
        <p:nvSpPr>
          <p:cNvPr id="11" name="Text 9"/>
          <p:cNvSpPr/>
          <p:nvPr/>
        </p:nvSpPr>
        <p:spPr>
          <a:xfrm>
            <a:off x="3895344" y="212140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27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1644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95344" y="24414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2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same-airport route refused — trigger, not CHECK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153912" y="2029968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2212848"/>
            <a:ext cx="118872" cy="118872"/>
          </a:xfrm>
          <a:prstGeom prst="ellipse">
            <a:avLst/>
          </a:prstGeom>
          <a:solidFill>
            <a:srgbClr val="CB272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12140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27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3819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24414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2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kg / 100+ kg bag refused — baggage_chk_1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796528" y="2029968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79408" y="2212848"/>
            <a:ext cx="118872" cy="118872"/>
          </a:xfrm>
          <a:prstGeom prst="ellipse">
            <a:avLst/>
          </a:prstGeom>
          <a:solidFill>
            <a:srgbClr val="CB272F"/>
          </a:solidFill>
          <a:ln/>
        </p:spPr>
      </p:sp>
      <p:sp>
        <p:nvSpPr>
          <p:cNvPr id="19" name="Text 17"/>
          <p:cNvSpPr/>
          <p:nvPr/>
        </p:nvSpPr>
        <p:spPr>
          <a:xfrm>
            <a:off x="9180576" y="212140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27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1451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80576" y="24414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2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airport with flights protected — RESTRICT holds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68680" y="3493008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3675888"/>
            <a:ext cx="118872" cy="118872"/>
          </a:xfrm>
          <a:prstGeom prst="ellipse">
            <a:avLst/>
          </a:prstGeom>
          <a:solidFill>
            <a:srgbClr val="CB272F"/>
          </a:solidFill>
          <a:ln/>
        </p:spPr>
      </p:sp>
      <p:sp>
        <p:nvSpPr>
          <p:cNvPr id="23" name="Text 21"/>
          <p:cNvSpPr/>
          <p:nvPr/>
        </p:nvSpPr>
        <p:spPr>
          <a:xfrm>
            <a:off x="1252728" y="35844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27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SQLSTATE 45000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52728" y="39044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2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oversell refused — flight is fully booked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511296" y="3493008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EFF9E4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3675888"/>
            <a:ext cx="118872" cy="118872"/>
          </a:xfrm>
          <a:prstGeom prst="ellipse">
            <a:avLst/>
          </a:prstGeom>
          <a:solidFill>
            <a:srgbClr val="4C7A1E"/>
          </a:solidFill>
          <a:ln/>
        </p:spPr>
      </p:sp>
      <p:sp>
        <p:nvSpPr>
          <p:cNvPr id="27" name="Text 25"/>
          <p:cNvSpPr/>
          <p:nvPr/>
        </p:nvSpPr>
        <p:spPr>
          <a:xfrm>
            <a:off x="3895344" y="35844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95344" y="39044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2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 deleted → bags/payments/check-ins: 0 orphans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153912" y="3493008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3675888"/>
            <a:ext cx="118872" cy="118872"/>
          </a:xfrm>
          <a:prstGeom prst="ellipse">
            <a:avLst/>
          </a:prstGeom>
          <a:solidFill>
            <a:srgbClr val="CB272F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5844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27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1142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37960" y="39044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2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 INSERT denied — grants spelled exactly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796528" y="3493008"/>
            <a:ext cx="2487168" cy="1280160"/>
          </a:xfrm>
          <a:prstGeom prst="roundRect">
            <a:avLst>
              <a:gd name="adj" fmla="val 10000"/>
            </a:avLst>
          </a:prstGeom>
          <a:solidFill>
            <a:srgbClr val="EFF9E4"/>
          </a:solidFill>
          <a:ln w="9525">
            <a:solidFill>
              <a:srgbClr val="C9E5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79408" y="3675888"/>
            <a:ext cx="118872" cy="118872"/>
          </a:xfrm>
          <a:prstGeom prst="ellipse">
            <a:avLst/>
          </a:prstGeom>
          <a:solidFill>
            <a:srgbClr val="4C7A1E"/>
          </a:solidFill>
          <a:ln/>
        </p:spPr>
      </p:sp>
      <p:sp>
        <p:nvSpPr>
          <p:cNvPr id="35" name="Text 33"/>
          <p:cNvSpPr/>
          <p:nvPr/>
        </p:nvSpPr>
        <p:spPr>
          <a:xfrm>
            <a:off x="9180576" y="35844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4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34,708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180576" y="390448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20" dirty="0">
                <a:solidFill>
                  <a:srgbClr val="6A6C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bookings unchanged after every refusal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868680" y="517550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686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refusals prove: the database rejects bad data at the door instead of storing it and hoping.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" y="6464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3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SKYROUTE — DBMS mini project · MySQL 8.0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C7A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2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7" grpId="0" animBg="1"/>
      <p:bldP spid="28" grpId="0" animBg="1"/>
      <p:bldP spid="31" grpId="0" animBg="1"/>
      <p:bldP spid="32" grpId="0" animBg="1"/>
      <p:bldP spid="35" grpId="0" animBg="1"/>
      <p:bldP spid="36" grpId="0" animBg="1"/>
      <p:bldP spid="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28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REEL, REWOUND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68680" y="987552"/>
            <a:ext cx="9692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0" kern="0" spc="-6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THE RULES LIVE</a:t>
            </a:r>
            <a:endParaRPr lang="en-US" sz="6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0" kern="0" spc="-6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IN THE DATABASE</a:t>
            </a:r>
            <a:endParaRPr lang="en-US" sz="6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0" kern="0" spc="-6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NOW</a:t>
            </a:r>
            <a:r>
              <a:rPr lang="en-US" sz="6000" kern="0" spc="-60" dirty="0">
                <a:solidFill>
                  <a:srgbClr val="9FE87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8229600" y="1965960"/>
            <a:ext cx="2651760" cy="0"/>
          </a:xfrm>
          <a:prstGeom prst="line">
            <a:avLst/>
          </a:prstGeom>
          <a:noFill/>
          <a:ln w="15875">
            <a:solidFill>
              <a:srgbClr val="9FE87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345168" y="1764792"/>
            <a:ext cx="420624" cy="420624"/>
          </a:xfrm>
          <a:prstGeom prst="ellipse">
            <a:avLst/>
          </a:prstGeom>
          <a:solidFill>
            <a:srgbClr val="9FE870"/>
          </a:solidFill>
          <a:ln/>
        </p:spPr>
      </p:sp>
      <p:pic>
        <p:nvPicPr>
          <p:cNvPr id="6" name="Image 0" descr="C:\Users\dwada\AppData\Local\Temp\opencode\assets\icons\plane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186080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1148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failure closed by a named mechanism; every mechanism closed by a test with a stated expectation. That was the brief — it still is.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5047488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047488"/>
            <a:ext cx="3977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 tables + views + trigger + procedure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10912" y="5047488"/>
            <a:ext cx="41605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10912" y="5047488"/>
            <a:ext cx="4160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transactions on stage, 4 measured indexes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336024" y="5047488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36024" y="5047488"/>
            <a:ext cx="2788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24 + 28 checks, all green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" y="5650992"/>
            <a:ext cx="104241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pic>
        <p:nvPicPr>
          <p:cNvPr id="15" name="Image 1" descr="C:\Users\dwada\AppData\Local\Temp\opencode\assets\icf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779008"/>
            <a:ext cx="8595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559612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D. Sivasai Bhaskar Sarma · 25STUCHH010868 · Section D</a:t>
            </a:r>
            <a:endParaRPr lang="en-US" sz="11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950" dirty="0">
                <a:solidFill>
                  <a:srgbClr val="CFE3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CS/AI/AIM/DS202 · Dr. Meena Kumari Parigi · ICFAI Foundation for Higher Education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0225735" y="6464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E87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 / 17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2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9" grpId="0" animBg="1"/>
      <p:bldP spid="11" grpId="0" animBg="1"/>
      <p:bldP spid="13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3139</Words>
  <Application>Microsoft Office PowerPoint</Application>
  <PresentationFormat>Widescreen</PresentationFormat>
  <Paragraphs>374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Segoe UI Black</vt:lpstr>
      <vt:lpstr>Arial</vt:lpstr>
      <vt:lpstr>Segoe UI Semibold</vt:lpstr>
      <vt:lpstr>Segoe UI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SkyRoute — Airline Booking, Baggage &amp; Staff Operations</dc:title>
  <dc:subject>DBMS Mini Project · CS/AI/AIM/DS202 · MySQL 8.0 + Flask</dc:subject>
  <dc:creator>D. Sivasai Bhaskar Sarma · 25STUCHH010868</dc:creator>
  <cp:lastModifiedBy>Dwadasi Siva Sai Bhaskar Sarma</cp:lastModifiedBy>
  <cp:revision>2</cp:revision>
  <dcterms:created xsi:type="dcterms:W3CDTF">2026-10-22T10:04:52Z</dcterms:created>
  <dcterms:modified xsi:type="dcterms:W3CDTF">2026-10-22T10:05:05Z</dcterms:modified>
</cp:coreProperties>
</file>