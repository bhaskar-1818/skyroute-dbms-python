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Animation: headline words fly in one by one; plane motif draws across. Say: one database for every station.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Problem. Animation: each row wipes in with its mechanism. Stress: every failure maps to exactly one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ER. Animation: entities fade in layer by layer (masters, operations, dependents). Point at the weak entity.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Schema table. Animation: rows appear one by one. Pause on the seat and gate UNIQUE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Scale. Animation: count-up effect on 336 / 34k if available. Key line: scale is a knob, not a rewrite.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Advanced SQL. Animation: each bullet with its code snippet. Demo the trigger refusal live if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Transactions. Animation: Demo B rollback as a two-step reveal. The seat stays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Indexing. Animation: before/after EXPLAIN bars. Say the FK line out loud: no cargo 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Access + testing. Animation: grant table, then the denied INSERT. 30 checks, all expected-first.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Flask site. Animation: screenshots of board, seat map, refusal message. Live demo if network allows.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Result. Animation: checklist ticks. Close with the demo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524000"/>
            <a:ext cx="10668000" cy="3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F5A623"/>
                </a:solidFill>
              </a:rPr>
              <a:t>SKYROUTE  ✈</a:t>
            </a:r>
          </a:p>
          <a:p>
            <a:pPr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</a:rPr>
              <a:t>Airline Ticket &amp; Baggage System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CFE3F7"/>
                </a:solidFill>
              </a:rPr>
              <a:t>Multi-airport database · 16 tables · 336 departures · ~34,000 bookings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CFE3F7"/>
                </a:solidFill>
              </a:rPr>
              <a:t>Views · trigger · procedure · transactions · indexes · Flask booking site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The problem: five failures, five mechanisms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905000"/>
            <a:ext cx="109728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Double seat booking  </a:t>
            </a:r>
            <a:r>
              <a:rPr sz="1900">
                <a:solidFill>
                  <a:srgbClr val="222222"/>
                </a:solidFill>
              </a:rPr>
              <a:t>UNIQUE(departure, seat) refuses it in storage.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Gate clash  </a:t>
            </a:r>
            <a:r>
              <a:rPr sz="1900">
                <a:solidFill>
                  <a:srgbClr val="222222"/>
                </a:solidFill>
              </a:rPr>
              <a:t>UNIQUE(terminal, gate) — one gate, one row.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Wrong baggage fee  </a:t>
            </a:r>
            <a:r>
              <a:rPr sz="1900">
                <a:solidFill>
                  <a:srgbClr val="222222"/>
                </a:solidFill>
              </a:rPr>
              <a:t>one fee rule in booking_receipt_view: 20 kg free, Rs 500/kg.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No shared database  </a:t>
            </a:r>
            <a:r>
              <a:rPr sz="1900">
                <a:solidFill>
                  <a:srgbClr val="222222"/>
                </a:solidFill>
              </a:rPr>
              <a:t>one skyroute_db for all five airports.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Overselling  </a:t>
            </a:r>
            <a:r>
              <a:rPr sz="1900">
                <a:solidFill>
                  <a:srgbClr val="222222"/>
                </a:solidFill>
              </a:rPr>
              <a:t>trigger refuses sales past aircraft capacity.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ER model: timetable vs dated reality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905000"/>
            <a:ext cx="109728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Masters  </a:t>
            </a:r>
            <a:r>
              <a:rPr sz="1900">
                <a:solidFill>
                  <a:srgbClr val="222222"/>
                </a:solidFill>
              </a:rPr>
              <a:t>Airport, Airline, Aircraft, Terminal, Gate.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Flight → Departures  </a:t>
            </a:r>
            <a:r>
              <a:rPr sz="1900">
                <a:solidFill>
                  <a:srgbClr val="222222"/>
                </a:solidFill>
              </a:rPr>
              <a:t>timetable template owns unlimited dated departures.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Booking bridge  </a:t>
            </a:r>
            <a:r>
              <a:rPr sz="1900">
                <a:solidFill>
                  <a:srgbClr val="222222"/>
                </a:solidFill>
              </a:rPr>
              <a:t>passengers meet departures; bags hang off bookings (weak).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Staff  </a:t>
            </a:r>
            <a:r>
              <a:rPr sz="1900">
                <a:solidFill>
                  <a:srgbClr val="222222"/>
                </a:solidFill>
              </a:rPr>
              <a:t>Employee supertype + Pilot / Crew / Ground subtypes.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Schema: 16 tables, every key earns its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9600" y="1905000"/>
          <a:ext cx="10972800" cy="40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/>
                <a:gridCol w="2286000"/>
                <a:gridCol w="6146800"/>
              </a:tblGrid>
              <a:tr h="580571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Table</a:t>
                      </a:r>
                    </a:p>
                  </a:txBody>
                  <a:tcPr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Primary key</a:t>
                      </a:r>
                    </a:p>
                  </a:txBody>
                  <a:tcPr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Rule that matters</a:t>
                      </a:r>
                    </a:p>
                  </a:txBody>
                  <a:tcPr>
                    <a:solidFill>
                      <a:srgbClr val="0F2540"/>
                    </a:solidFill>
                  </a:tcPr>
                </a:tc>
              </a:tr>
              <a:tr h="58057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Flights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flight_id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UNIQUE number · dep ≠ arr airports</a:t>
                      </a:r>
                    </a:p>
                  </a:txBody>
                  <a:tcPr/>
                </a:tc>
              </a:tr>
              <a:tr h="58057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Departures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departure_id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UNIQUE(flight, date-time)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</a:tr>
              <a:tr h="58057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Bookings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booking_id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UNIQUE(departure, seat)</a:t>
                      </a:r>
                    </a:p>
                  </a:txBody>
                  <a:tcPr/>
                </a:tc>
              </a:tr>
              <a:tr h="58057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Baggage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(booking, seq)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weak entity · 0 &lt; kg ≤ 100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</a:tr>
              <a:tr h="58057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Gates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gate_id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UNIQUE(terminal, gate)</a:t>
                      </a:r>
                    </a:p>
                  </a:txBody>
                  <a:tcPr/>
                </a:tc>
              </a:tr>
              <a:tr h="58057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Payments / Check-Ins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own ids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UNIQUE booking (one-to-one)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Scale: designed unlimited, demonstrated at volume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905000"/>
            <a:ext cx="109728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Design  </a:t>
            </a:r>
            <a:r>
              <a:rPr sz="1900">
                <a:solidFill>
                  <a:srgbClr val="222222"/>
                </a:solidFill>
              </a:rPr>
              <a:t>integer keys + indexed FKs — nothing changes at 10× volume.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Generator  </a:t>
            </a:r>
            <a:r>
              <a:rPr sz="1900">
                <a:solidFill>
                  <a:srgbClr val="222222"/>
                </a:solidFill>
              </a:rPr>
              <a:t>deterministic (seed 42): 14 days, 35–80% load factors.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Verified  </a:t>
            </a:r>
            <a:r>
              <a:rPr sz="1900">
                <a:solidFill>
                  <a:srgbClr val="222222"/>
                </a:solidFill>
              </a:rPr>
              <a:t>zero duplicate seats · all foreign keys in range.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Payoff  </a:t>
            </a:r>
            <a:r>
              <a:rPr sz="1900">
                <a:solidFill>
                  <a:srgbClr val="222222"/>
                </a:solidFill>
              </a:rPr>
              <a:t>load factor, revenue, gate use — one query each.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Advanced SQL: rules live in the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905000"/>
            <a:ext cx="109728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flight_board_view  </a:t>
            </a:r>
            <a:r>
              <a:rPr sz="1900">
                <a:solidFill>
                  <a:srgbClr val="222222"/>
                </a:solidFill>
              </a:rPr>
              <a:t>the whole departure board in one query.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booking_receipt_view  </a:t>
            </a:r>
            <a:r>
              <a:rPr sz="1900">
                <a:solidFill>
                  <a:srgbClr val="222222"/>
                </a:solidFill>
              </a:rPr>
              <a:t>price + computed baggage fee per booking.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trg_booking_capacity  </a:t>
            </a:r>
            <a:r>
              <a:rPr sz="1900">
                <a:solidFill>
                  <a:srgbClr val="222222"/>
                </a:solidFill>
              </a:rPr>
              <a:t>BEFORE INSERT trigger: full flight? refused (SQLSTATE 45000).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MakeBooking  </a:t>
            </a:r>
            <a:r>
              <a:rPr sz="1900">
                <a:solidFill>
                  <a:srgbClr val="222222"/>
                </a:solidFill>
              </a:rPr>
              <a:t>seat + payment in one transaction — both or neither.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Transactions: ACID you can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905000"/>
            <a:ext cx="109728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Demo A — commit  </a:t>
            </a:r>
            <a:r>
              <a:rPr sz="1900">
                <a:solidFill>
                  <a:srgbClr val="222222"/>
                </a:solidFill>
              </a:rPr>
              <a:t>booking + payment appear together.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Demo B — rollback  </a:t>
            </a:r>
            <a:r>
              <a:rPr sz="1900">
                <a:solidFill>
                  <a:srgbClr val="222222"/>
                </a:solidFill>
              </a:rPr>
              <a:t>failed payment → seat provably still free.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Demo C — isolation  </a:t>
            </a:r>
            <a:r>
              <a:rPr sz="1900">
                <a:solidFill>
                  <a:srgbClr val="222222"/>
                </a:solidFill>
              </a:rPr>
              <a:t>two sessions: old value visible until COMMIT.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Indexing: measure, don't guess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905000"/>
            <a:ext cx="109728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No cargo cult  </a:t>
            </a:r>
            <a:r>
              <a:rPr sz="1900">
                <a:solidFill>
                  <a:srgbClr val="222222"/>
                </a:solidFill>
              </a:rPr>
              <a:t>InnoDB already indexes FK columns — untouched.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4 workload indexes  </a:t>
            </a:r>
            <a:r>
              <a:rPr sz="1900">
                <a:solidFill>
                  <a:srgbClr val="222222"/>
                </a:solidFill>
              </a:rPr>
              <a:t>status · departure date · surname · bag weight.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Proof  </a:t>
            </a:r>
            <a:r>
              <a:rPr sz="1900">
                <a:solidFill>
                  <a:srgbClr val="222222"/>
                </a:solidFill>
              </a:rPr>
              <a:t>before/after EXPLAIN pairs: fewer rows examined.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Access control +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905000"/>
            <a:ext cx="109728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3 roles  </a:t>
            </a:r>
            <a:r>
              <a:rPr sz="1900">
                <a:solidFill>
                  <a:srgbClr val="222222"/>
                </a:solidFill>
              </a:rPr>
              <a:t>admin = all · staff = read-write · viewer = read-only, SHOW GRANTS proof.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30 checks  </a:t>
            </a:r>
            <a:r>
              <a:rPr sz="1900">
                <a:solidFill>
                  <a:srgbClr val="222222"/>
                </a:solidFill>
              </a:rPr>
              <a:t>joins · analytics · rejections (ERROR 1062 live) · atomicity · grants · scale.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Every check  </a:t>
            </a:r>
            <a:r>
              <a:rPr sz="1900">
                <a:solidFill>
                  <a:srgbClr val="222222"/>
                </a:solidFill>
              </a:rPr>
              <a:t>states its expected result before the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Flask booking site: the database, clickable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905000"/>
            <a:ext cx="109728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3 steps  </a:t>
            </a:r>
            <a:r>
              <a:rPr sz="1900">
                <a:solidFill>
                  <a:srgbClr val="222222"/>
                </a:solidFill>
              </a:rPr>
              <a:t>Search → seat map → My bookings (http://127.0.0.1:5000).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Seat map  </a:t>
            </a:r>
            <a:r>
              <a:rPr sz="1900">
                <a:solidFill>
                  <a:srgbClr val="222222"/>
                </a:solidFill>
              </a:rPr>
              <a:t>grey seats are the UNIQUE key made visible.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CRUD + fee  </a:t>
            </a:r>
            <a:r>
              <a:rPr sz="1900">
                <a:solidFill>
                  <a:srgbClr val="222222"/>
                </a:solidFill>
              </a:rPr>
              <a:t>edit · cancel · delete · 25 kg bag = Rs 2,500 fee.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24 tests  </a:t>
            </a:r>
            <a:r>
              <a:rPr sz="1900">
                <a:solidFill>
                  <a:srgbClr val="222222"/>
                </a:solidFill>
              </a:rPr>
              <a:t>all passing, no server needed: test_app.py.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6510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A623"/>
                </a:solidFill>
              </a:rPr>
              <a:t>SKYROUTE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109728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Result: every problem closed, everything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0"/>
            <a:ext cx="10972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B7F"/>
                </a:solidFill>
              </a:rPr>
              <a:t>SkyRoute  ·  DBMS mini project  ·  skyroute_db (MySQL 8.0)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905000"/>
            <a:ext cx="109728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Coverage  </a:t>
            </a:r>
            <a:r>
              <a:rPr sz="1900">
                <a:solidFill>
                  <a:srgbClr val="222222"/>
                </a:solidFill>
              </a:rPr>
              <a:t>all 5 problem items → named mechanisms → tests.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Volume  </a:t>
            </a:r>
            <a:r>
              <a:rPr sz="1900">
                <a:solidFill>
                  <a:srgbClr val="222222"/>
                </a:solidFill>
              </a:rPr>
              <a:t>~14k bookings answered in single queries.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F2540"/>
                </a:solidFill>
              </a:rPr>
              <a:t>▸ Next  </a:t>
            </a:r>
            <a:r>
              <a:rPr sz="1900">
                <a:solidFill>
                  <a:srgbClr val="222222"/>
                </a:solidFill>
              </a:rPr>
              <a:t>live demo: board → book 12A → re-book 12A (refused) → fee receipt.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